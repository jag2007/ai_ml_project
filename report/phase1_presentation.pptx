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3d9f0db9-84d2-16ec-74b8-7f4de23c2554}">
          <p14:sldIdLst>
            <p14:sldId id="256"/>
            <p14:sldId id="257"/>
            <p14:sldId id="258"/>
            <p14:sldId id="259"/>
          </p14:sldIdLst>
        </p14:section>
        <p14:section name="01 Data and EDA" id="{9e6acccf-9cf1-91c6-4e31-b46ae46b3b4a}">
          <p14:sldIdLst>
            <p14:sldId id="260"/>
            <p14:sldId id="261"/>
          </p14:sldIdLst>
        </p14:section>
        <p14:section name="02 Parser and PC" id="{10ecec0c-1f37-789a-ccf4-36f6481a531a}">
          <p14:sldIdLst>
            <p14:sldId id="262"/>
            <p14:sldId id="263"/>
          </p14:sldIdLst>
        </p14:section>
        <p14:section name="03 Features" id="{28576cb9-fdfb-219d-47c9-1136a8e645f6}">
          <p14:sldIdLst>
            <p14:sldId id="264"/>
            <p14:sldId id="265"/>
          </p14:sldIdLst>
        </p14:section>
        <p14:section name="04 Models" id="{f9378d86-7ddd-3e35-cb6e-1f81f71b277f}">
          <p14:sldIdLst>
            <p14:sldId id="266"/>
            <p14:sldId id="267"/>
          </p14:sldIdLst>
        </p14:section>
        <p14:section name="05 DAG and interventions" id="{ed66ddcd-b52f-269a-fb21-44cf64161dc1}">
          <p14:sldIdLst>
            <p14:sldId id="268"/>
            <p14:sldId id="269"/>
          </p14:sldIdLst>
        </p14:section>
        <p14:section name="Conclusion" id="{1c65ca71-caf0-51f1-9bb5-98ee70328f95}">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Labels reproduced by parser + PC (%)</a:t>
            </a:r>
          </a:p>
        </c:rich>
      </c:tx>
      <c:layout/>
      <c:overlay val="0"/>
    </c:title>
    <c:autoTitleDeleted val="0"/>
    <c:plotArea>
      <c:layout/>
      <c:barChart>
        <c:barDir val="col"/>
        <c:grouping val="clustered"/>
        <c:varyColors val="0"/>
        <c:ser>
          <c:idx val="0"/>
          <c:order val="0"/>
          <c:tx>
            <c:strRef>
              <c:f>Sheet1!$B$1</c:f>
              <c:strCache>
                <c:ptCount val="1"/>
                <c:pt idx="0">
                  <c:v>First definitions</c:v>
                </c:pt>
              </c:strCache>
            </c:strRef>
          </c:tx>
          <c:spPr>
            <a:solidFill>
              <a:srgbClr val="8D99AE"/>
            </a:solidFill>
            <a:effectLst/>
          </c:spPr>
          <c:invertIfNegative val="0"/>
          <c:dLbls>
            <c:numFmt formatCode="0.0"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c:v>
                  </c:pt>
                  <c:pt idx="1">
                    <c:v>Validation</c:v>
                  </c:pt>
                  <c:pt idx="2">
                    <c:v>Test</c:v>
                  </c:pt>
                </c:lvl>
              </c:multiLvlStrCache>
            </c:multiLvlStrRef>
          </c:cat>
          <c:val>
            <c:numRef>
              <c:f>Sheet1!$B$2:$B$4</c:f>
              <c:numCache>
                <c:formatCode>General</c:formatCode>
                <c:ptCount val="3"/>
                <c:pt idx="0">
                  <c:v>93.7</c:v>
                </c:pt>
                <c:pt idx="1">
                  <c:v>96.5</c:v>
                </c:pt>
                <c:pt idx="2">
                  <c:v>96.2</c:v>
                </c:pt>
              </c:numCache>
            </c:numRef>
          </c:val>
        </c:ser>
        <c:ser>
          <c:idx val="1"/>
          <c:order val="1"/>
          <c:tx>
            <c:strRef>
              <c:f>Sheet1!$C$1</c:f>
              <c:strCache>
                <c:ptCount val="1"/>
                <c:pt idx="0">
                  <c:v>Generator definitions</c:v>
                </c:pt>
              </c:strCache>
            </c:strRef>
          </c:tx>
          <c:spPr>
            <a:solidFill>
              <a:srgbClr val="E07A1F"/>
            </a:solidFill>
            <a:effectLst/>
          </c:spPr>
          <c:invertIfNegative val="0"/>
          <c:dLbls>
            <c:numFmt formatCode="0.0"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cat>
            <c:multiLvlStrRef>
              <c:f>Sheet1!$A$2:$A$4</c:f>
              <c:multiLvlStrCache>
                <c:ptCount val="3"/>
                <c:lvl>
                  <c:pt idx="0">
                    <c:v>Train</c:v>
                  </c:pt>
                  <c:pt idx="1">
                    <c:v>Validation</c:v>
                  </c:pt>
                  <c:pt idx="2">
                    <c:v>Test</c:v>
                  </c:pt>
                </c:lvl>
              </c:multiLvlStrCache>
            </c:multiLvlStrRef>
          </c:cat>
          <c:val>
            <c:numRef>
              <c:f>Sheet1!$C$2:$C$4</c:f>
              <c:numCache>
                <c:formatCode>General</c:formatCode>
                <c:ptCount val="3"/>
                <c:pt idx="0">
                  <c:v>96.6</c:v>
                </c:pt>
                <c:pt idx="1">
                  <c:v>97.5</c:v>
                </c:pt>
                <c:pt idx="2">
                  <c:v>98.5</c:v>
                </c:pt>
              </c:numCache>
            </c:numRef>
          </c:val>
        </c:ser>
        <c:dLbls>
          <c:numFmt formatCode="0.0"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00"/>
          <c:min val="90"/>
        </c:scaling>
        <c:delete val="0"/>
        <c:axPos val="l"/>
        <c:majorGridlines>
          <c:spPr>
            <a:ln w="6350" cap="flat">
              <a:solidFill>
                <a:srgbClr val="DDE2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5C6B8A"/>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5C6B8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4213D"/>
                </a:solidFill>
                <a:latin typeface="+mn-lt"/>
              </a:defRPr>
            </a:pPr>
            <a:r>
              <a:rPr sz="1200" b="0" i="0" u="none" strike="noStrike">
                <a:solidFill>
                  <a:srgbClr val="14213D"/>
                </a:solidFill>
                <a:latin typeface="+mn-lt"/>
              </a:rPr>
              <a:t>Validation F1, logistic regression</a:t>
            </a:r>
          </a:p>
        </c:rich>
      </c:tx>
      <c:layout/>
      <c:overlay val="0"/>
    </c:title>
    <c:autoTitleDeleted val="0"/>
    <c:plotArea>
      <c:layout/>
      <c:barChart>
        <c:barDir val="bar"/>
        <c:grouping val="clustered"/>
        <c:varyColors val="0"/>
        <c:ser>
          <c:idx val="0"/>
          <c:order val="0"/>
          <c:tx>
            <c:strRef>
              <c:f>Sheet1!$B$1</c:f>
              <c:strCache>
                <c:ptCount val="1"/>
                <c:pt idx="0">
                  <c:v>Validation F1</c:v>
                </c:pt>
              </c:strCache>
            </c:strRef>
          </c:tx>
          <c:spPr>
            <a:solidFill>
              <a:srgbClr val="8D99AE"/>
            </a:solidFill>
            <a:effectLst/>
          </c:spPr>
          <c:invertIfNegative val="0"/>
          <c:dLbls>
            <c:numFmt formatCode="0.000"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dPt>
            <c:idx val="0"/>
            <c:invertIfNegative val="0"/>
            <c:bubble3D val="0"/>
            <c:spPr>
              <a:solidFill>
                <a:srgbClr val="8D99AE"/>
              </a:solidFill>
              <a:effectLst/>
            </c:spPr>
          </c:dPt>
          <c:dPt>
            <c:idx val="1"/>
            <c:invertIfNegative val="0"/>
            <c:bubble3D val="0"/>
            <c:spPr>
              <a:solidFill>
                <a:srgbClr val="E07A1F"/>
              </a:solidFill>
              <a:effectLst/>
            </c:spPr>
          </c:dPt>
          <c:dPt>
            <c:idx val="2"/>
            <c:invertIfNegative val="0"/>
            <c:bubble3D val="0"/>
            <c:spPr>
              <a:solidFill>
                <a:srgbClr val="E07A1F"/>
              </a:solidFill>
              <a:effectLst/>
            </c:spPr>
          </c:dPt>
          <c:dPt>
            <c:idx val="3"/>
            <c:invertIfNegative val="0"/>
            <c:bubble3D val="0"/>
            <c:spPr>
              <a:solidFill>
                <a:srgbClr val="14213D"/>
              </a:solidFill>
              <a:effectLst/>
            </c:spPr>
          </c:dPt>
          <c:cat>
            <c:multiLvlStrRef>
              <c:f>Sheet1!$A$2:$A$5</c:f>
              <c:multiLvlStrCache>
                <c:ptCount val="4"/>
                <c:lvl>
                  <c:pt idx="0">
                    <c:v>TF-IDF only</c:v>
                  </c:pt>
                  <c:pt idx="1">
                    <c:v>Structured only</c:v>
                  </c:pt>
                  <c:pt idx="2">
                    <c:v>TF-IDF + structured</c:v>
                  </c:pt>
                  <c:pt idx="3">
                    <c:v>Rule: mec_support = 1</c:v>
                  </c:pt>
                </c:lvl>
              </c:multiLvlStrCache>
            </c:multiLvlStrRef>
          </c:cat>
          <c:val>
            <c:numRef>
              <c:f>Sheet1!$B$2:$B$5</c:f>
              <c:numCache>
                <c:formatCode>General</c:formatCode>
                <c:ptCount val="4"/>
                <c:pt idx="0">
                  <c:v>0.469</c:v>
                </c:pt>
                <c:pt idx="1">
                  <c:v>0.846</c:v>
                </c:pt>
                <c:pt idx="2">
                  <c:v>0.884</c:v>
                </c:pt>
                <c:pt idx="3">
                  <c:v>0.906</c:v>
                </c:pt>
              </c:numCache>
            </c:numRef>
          </c:val>
        </c:ser>
        <c:dLbls>
          <c:numFmt formatCode="0.000" sourceLinked="0"/>
          <c:txPr>
            <a:bodyPr/>
            <a:lstStyle/>
            <a:p>
              <a:pPr>
                <a:defRPr b="0" i="0" strike="noStrike" sz="1100" u="none">
                  <a:solidFill>
                    <a:srgbClr val="1A1F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5C6B8A"/>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b"/>
        <c:majorGridlines>
          <c:spPr>
            <a:ln w="6350" cap="flat">
              <a:solidFill>
                <a:srgbClr val="DDE2EA"/>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000" b="0" i="0" u="none" strike="noStrike">
                <a:solidFill>
                  <a:srgbClr val="5C6B8A"/>
                </a:solidFill>
                <a:latin typeface="+mn-lt"/>
              </a:defRPr>
            </a:pPr>
            <a:endParaRPr lang="en-US"/>
          </a:p>
        </c:txPr>
        <c:crossAx val="2094734554"/>
        <c:crosses val="autoZero"/>
        <c:crossBetween val="between"/>
        <c:majorUnit val="0.2"/>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Dhanvin (or whoever opens). One line: we check whether a causal claim follows from correlation facts written in text, by turning the text into a causal graph and reasoning on it. Five steps, one notebook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dataset with this example. A and B are independent but both correlate with C, so C must be a common effect (collider). The label is 1 only if the claim is true in every DAG that fits the premise, which is the Markov equivalence class. Splits: 206K train rows (we sample 400 premises), 1,076 validation, 1,162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notebooks and who owns each. The brief's 'gap': text extraction can propose relations but cannot enforce acyclicity, quantify uncertainty or answer interventions. So we keep the two sides apart: language proposes, the graph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Chaitanya. Official Hugging Face splits. No missing values or duplicates. The same premise is reused with up to 90 hypotheses, so leakage happens at premise level: 2 premises shared train/validation, 3 validation/test. Test kept as is. Train is 206K rows, so 400 whole premises sampled, label share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Chaitanya. Explain each finding and what it changed downstream. Also: validation and test include 2 to 4 variable graphs that train never has, a harder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Rakshita. PC: start fully connected, remove edges between independent pairs, orient colliders X-&gt;Z&lt;-Y, then Meek rules. Undirected edges mean the direction cannot be known. All fitting DAGs form the Markov equivalence class: same skeleton and same colliders. mec_support is computed with no labels, so it is not leakage.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Rakshita. Our first rule matched 93.7% of train labels. Reading the generator: 'causes something else which causes Y' only needs a 2+ arrow path even if X-&gt;Y also exists; colliders and confounders can use longer paths; a loop bug (i++ instead of i--) means a confounder only counts when the common cause is next to Y. Now 98.5% on test. 41% of remaining mismatches are 'parent' claims every fitting DAG supports but labelled 0: label noise. Also: letters follow causal order, so 'child' claims are never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Dhanvin. TF-IDF weighs a word by how often it appears here and how rare it is overall; sublinear tf. Default token pattern drops one-letter words, but A-F are the variables. Structured features scaled with StandardScaler fit on train. Mutual information: 0/1 and count columns treated as discrete. mec_support is far ahead, then the edge-direction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Dhanvin. Same logistic regression, three feature sets, plus the no-learning rule for honesty. Bag of words cannot tell 'A causes B' from 'B causes A' and cannot link the hypothesis pair to the premise. Balanced class weights trade precision for recall, so the linear model scores below the rule. Feature selection (top 80 terms) changed F1 by only 0.02, within noise on 19 premises.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Lalithendra. GridSearchCV over C for LR, depth and leaf size for RF, learning rate and leaves for gradient boosting. Random Forest has the best validation F1, so it is the final model; gradient boosting ties on test but we never switch after seeing test. Bootstrap resamples premises, not rows, because rows of one premise are not 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Lalithendra. Read the confusion matrix. Error analysis by claim type and by number of variables. Small graphs do well because the features come from the parser and PC, not memorised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Jagruthi. This is where the symbolic side enforces what text cannot: no cycles, no self-loops, only known variables. All 8 wrong arrows are also in the PC graph, so they come from the same label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Jagruthi. A Bayesian network is a DAG where every node has a probability table: the chance it is 1 given its parents. Corr2Cause is only text, so there are no numbers to learn from. We take the test premises where PC knows the full graph (only one DAG fits, 5 premises), give that true graph random tables, and simulate 5,000 rows of 0/1. Then pgmpy fits our predicted DAG, and the same DAG with all arrows reversed, on those rows. do(X) means we set X ourselves, which cuts the arrows into X; this is different from just observing X. Effect = P(Y=1 | do(X=1)) minus P(Y=1 | do(X=0)). Chain example: the true effect of A on C is 0.490 and our graph gives 0.498; the reversed graph gives 0.000 and wrongly says C affects A (0.514). On the test graphs we ask every ordered pair: 96 queries, 32 with a real effect. Our DAG gets 28 of 32; reversed and empty graphs get 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Dhanvin or Jagruthi. Three takeaways, then limitations and the Phase 2 plan.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212080" cy="155448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ph idx="101" type="body" hasCustomPrompt="1"/>
          </p:nvPr>
        </p:nvSpPr>
        <p:spPr>
          <a:xfrm>
            <a:off x="548640" y="2697480"/>
            <a:ext cx="5212080" cy="68580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201168"/>
            <a:ext cx="128016" cy="128016"/>
          </a:xfrm>
          <a:prstGeom prst="ellipse">
            <a:avLst/>
          </a:prstGeom>
          <a:solidFill>
            <a:schemeClr val="accent1"/>
          </a:solidFill>
          <a:ln>
            <a:solidFill>
              <a:schemeClr val="accent1"/>
            </a:solidFill>
          </a:ln>
        </p:spPr>
        <p:txBody>
          <a:bodyPr wrap="square" rtlCol="0" anchor="ctr"/>
          <a:lstStyle/>
          <a:p>
            <a:pPr indent="0" marL="0">
              <a:buNone/>
            </a:pPr>
            <a:endParaRPr lang="en-US" dirty="0"/>
          </a:p>
        </p:txBody>
      </p:sp>
      <p:sp>
        <p:nvSpPr>
          <p:cNvPr id="3" name="Text 1"/>
          <p:cNvSpPr/>
          <p:nvPr>
            <p:ph idx="101" type="body" hasCustomPrompt="1"/>
          </p:nvPr>
        </p:nvSpPr>
        <p:spPr>
          <a:xfrm>
            <a:off x="658368" y="128016"/>
            <a:ext cx="7315200" cy="274320"/>
          </a:xfrm>
          <a:prstGeom prst="rect">
            <a:avLst/>
          </a:prstGeom>
          <a:noFill/>
          <a:ln/>
        </p:spPr>
        <p:txBody>
          <a:bodyPr wrap="square" rtlCol="0"/>
          <a:lstStyle>
            <a:lvl1pPr indent="0" marL="0">
              <a:buNone/>
              <a:defRPr lang="en-US" sz="1100" b="1"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457200" y="411480"/>
            <a:ext cx="8229600" cy="54864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5" name="Text 1"/>
          <p:cNvSpPr/>
          <p:nvPr/>
        </p:nvSpPr>
        <p:spPr>
          <a:xfrm>
            <a:off x="457200" y="4754880"/>
            <a:ext cx="3657600" cy="228600"/>
          </a:xfrm>
          <a:prstGeom prst="rect">
            <a:avLst/>
          </a:prstGeom>
          <a:noFill/>
          <a:ln/>
        </p:spPr>
        <p:txBody>
          <a:bodyPr wrap="square" lIns="0" tIns="0" rIns="0" bIns="0" rtlCol="0" anchor="ctr"/>
          <a:lstStyle/>
          <a:p>
            <a:pPr indent="0" marL="0">
              <a:buNone/>
            </a:pPr>
            <a:r>
              <a:rPr lang="en-US" sz="900" dirty="0">
                <a:solidFill>
                  <a:schemeClr val="accent3"/>
                </a:solidFill>
              </a:rPr>
              <a:t>Corr2Cause · CSAI Phase 1</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4008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960120"/>
            <a:ext cx="5212080" cy="1554480"/>
          </a:xfrm>
          <a:prstGeom prst="rect">
            <a:avLst/>
          </a:prstGeom>
          <a:noFill/>
          <a:ln/>
        </p:spPr>
        <p:txBody>
          <a:bodyPr wrap="square" lIns="0" tIns="0" rIns="0" bIns="0" rtlCol="0" anchor="b"/>
          <a:lstStyle/>
          <a:p>
            <a:pPr algn="l" indent="0" marL="0">
              <a:buNone/>
            </a:pPr>
            <a:r>
              <a:rPr lang="en-US" sz="3400" b="1" dirty="0">
                <a:solidFill>
                  <a:schemeClr val="bg1"/>
                </a:solidFill>
              </a:rPr>
              <a:t>Can a Model Tell Cause from Correlation?</a:t>
            </a:r>
            <a:endParaRPr lang="en-US" sz="3400" dirty="0"/>
          </a:p>
        </p:txBody>
      </p:sp>
      <p:sp>
        <p:nvSpPr>
          <p:cNvPr id="3" name="Text 0"/>
          <p:cNvSpPr/>
          <p:nvPr>
            <p:ph idx="101" type="body" hasCustomPrompt="1"/>
          </p:nvPr>
        </p:nvSpPr>
        <p:spPr>
          <a:xfrm>
            <a:off x="548640" y="2697480"/>
            <a:ext cx="5212080" cy="685800"/>
          </a:xfrm>
          <a:prstGeom prst="rect">
            <a:avLst/>
          </a:prstGeom>
          <a:noFill/>
          <a:ln/>
        </p:spPr>
        <p:txBody>
          <a:bodyPr wrap="square" lIns="0" tIns="0" rIns="0" bIns="0" rtlCol="0" anchor="t"/>
          <a:lstStyle/>
          <a:p>
            <a:pPr algn="l" indent="0" marL="0">
              <a:buNone/>
            </a:pPr>
            <a:r>
              <a:rPr lang="en-US" sz="1600" dirty="0">
                <a:solidFill>
                  <a:schemeClr val="accent6"/>
                </a:solidFill>
              </a:rPr>
              <a:t>Neuro-symbolic causal inference on Corr2Cause, from text to Bayesian network</a:t>
            </a:r>
            <a:endParaRPr lang="en-US" sz="1600" dirty="0"/>
          </a:p>
        </p:txBody>
      </p:sp>
      <p:sp>
        <p:nvSpPr>
          <p:cNvPr id="4" name="text-1"/>
          <p:cNvSpPr txBox="1"/>
          <p:nvPr/>
        </p:nvSpPr>
        <p:spPr>
          <a:xfrm>
            <a:off x="548640" y="3749040"/>
            <a:ext cx="5212080" cy="502920"/>
          </a:xfrm>
          <a:prstGeom prst="rect">
            <a:avLst/>
          </a:prstGeom>
          <a:noFill/>
          <a:ln/>
        </p:spPr>
        <p:txBody>
          <a:bodyPr wrap="square" lIns="0" tIns="0" rIns="0" bIns="0" rtlCol="0" anchor="t"/>
          <a:lstStyle/>
          <a:p>
            <a:pPr indent="0" marL="0">
              <a:buNone/>
            </a:pPr>
            <a:r>
              <a:rPr lang="en-US" sz="1200" dirty="0">
                <a:solidFill>
                  <a:schemeClr val="bg1"/>
                </a:solidFill>
              </a:rPr>
              <a:t>Chaitanya Sai Meka · Rakshita · Dhanvin Vadlamudi</a:t>
            </a:r>
            <a:endParaRPr lang="en-US" sz="1200" dirty="0"/>
          </a:p>
          <a:p>
            <a:pPr indent="0" marL="0">
              <a:buNone/>
            </a:pPr>
            <a:r>
              <a:rPr lang="en-US" sz="1200" dirty="0">
                <a:solidFill>
                  <a:schemeClr val="bg1"/>
                </a:solidFill>
              </a:rPr>
              <a:t>Kasula Lalithendra · Jagruthi Pulumati</a:t>
            </a:r>
            <a:endParaRPr lang="en-US" sz="1200" dirty="0"/>
          </a:p>
        </p:txBody>
      </p:sp>
      <p:sp>
        <p:nvSpPr>
          <p:cNvPr id="5" name="text-2"/>
          <p:cNvSpPr txBox="1"/>
          <p:nvPr/>
        </p:nvSpPr>
        <p:spPr>
          <a:xfrm>
            <a:off x="548640" y="4343400"/>
            <a:ext cx="5212080" cy="274320"/>
          </a:xfrm>
          <a:prstGeom prst="rect">
            <a:avLst/>
          </a:prstGeom>
          <a:noFill/>
          <a:ln/>
        </p:spPr>
        <p:txBody>
          <a:bodyPr wrap="square" lIns="0" tIns="0" rIns="0" bIns="0" rtlCol="0" anchor="t"/>
          <a:lstStyle/>
          <a:p>
            <a:pPr indent="0" marL="0">
              <a:buNone/>
            </a:pPr>
            <a:r>
              <a:rPr lang="en-US" sz="1100" dirty="0">
                <a:solidFill>
                  <a:schemeClr val="accent3"/>
                </a:solidFill>
              </a:rPr>
              <a:t>CSAI Project, Phase 1 (Machine Learning) · github.com/Jag2007/AI_ML_Project</a:t>
            </a:r>
            <a:endParaRPr lang="en-US" sz="1100" dirty="0"/>
          </a:p>
        </p:txBody>
      </p:sp>
      <p:sp>
        <p:nvSpPr>
          <p:cNvPr id="6" name="arrow-3"/>
          <p:cNvSpPr/>
          <p:nvPr/>
        </p:nvSpPr>
        <p:spPr>
          <a:xfrm>
            <a:off x="6753358" y="1438247"/>
            <a:ext cx="437884" cy="643947"/>
          </a:xfrm>
          <a:prstGeom prst="line">
            <a:avLst/>
          </a:prstGeom>
          <a:noFill/>
          <a:ln w="25400">
            <a:solidFill>
              <a:schemeClr val="accent1"/>
            </a:solidFill>
            <a:prstDash val="solid"/>
            <a:tailEnd type="triangle"/>
          </a:ln>
        </p:spPr>
      </p:sp>
      <p:sp>
        <p:nvSpPr>
          <p:cNvPr id="7" name="arrow-4"/>
          <p:cNvSpPr/>
          <p:nvPr/>
        </p:nvSpPr>
        <p:spPr>
          <a:xfrm flipH="1">
            <a:off x="7530598" y="1438247"/>
            <a:ext cx="437884" cy="643947"/>
          </a:xfrm>
          <a:prstGeom prst="line">
            <a:avLst/>
          </a:prstGeom>
          <a:noFill/>
          <a:ln w="25400">
            <a:solidFill>
              <a:schemeClr val="accent1"/>
            </a:solidFill>
            <a:prstDash val="solid"/>
            <a:tailEnd type="triangle"/>
          </a:ln>
        </p:spPr>
      </p:sp>
      <p:sp>
        <p:nvSpPr>
          <p:cNvPr id="8" name="arrow-5"/>
          <p:cNvSpPr/>
          <p:nvPr/>
        </p:nvSpPr>
        <p:spPr>
          <a:xfrm flipH="1">
            <a:off x="6753358" y="2581247"/>
            <a:ext cx="437884" cy="643947"/>
          </a:xfrm>
          <a:prstGeom prst="line">
            <a:avLst/>
          </a:prstGeom>
          <a:noFill/>
          <a:ln w="25400">
            <a:solidFill>
              <a:schemeClr val="accent1"/>
            </a:solidFill>
            <a:prstDash val="solid"/>
            <a:tailEnd type="triangle"/>
          </a:ln>
        </p:spPr>
      </p:sp>
      <p:sp>
        <p:nvSpPr>
          <p:cNvPr id="9" name="arrow-6"/>
          <p:cNvSpPr/>
          <p:nvPr/>
        </p:nvSpPr>
        <p:spPr>
          <a:xfrm>
            <a:off x="7530598" y="2581247"/>
            <a:ext cx="437884" cy="643947"/>
          </a:xfrm>
          <a:prstGeom prst="line">
            <a:avLst/>
          </a:prstGeom>
          <a:noFill/>
          <a:ln w="25400">
            <a:solidFill>
              <a:schemeClr val="accent1"/>
            </a:solidFill>
            <a:prstDash val="solid"/>
            <a:tailEnd type="triangle"/>
          </a:ln>
        </p:spPr>
      </p:sp>
      <p:sp>
        <p:nvSpPr>
          <p:cNvPr id="10" name="arrow-7"/>
          <p:cNvSpPr/>
          <p:nvPr/>
        </p:nvSpPr>
        <p:spPr>
          <a:xfrm>
            <a:off x="6885432" y="3474720"/>
            <a:ext cx="950976" cy="0"/>
          </a:xfrm>
          <a:prstGeom prst="line">
            <a:avLst/>
          </a:prstGeom>
          <a:noFill/>
          <a:ln w="25400">
            <a:solidFill>
              <a:schemeClr val="accent1"/>
            </a:solidFill>
            <a:prstDash val="solid"/>
            <a:tailEnd type="triangle"/>
          </a:ln>
        </p:spPr>
      </p:sp>
      <p:sp>
        <p:nvSpPr>
          <p:cNvPr id="11" name="node-8"/>
          <p:cNvSpPr txBox="1"/>
          <p:nvPr/>
        </p:nvSpPr>
        <p:spPr>
          <a:xfrm>
            <a:off x="6281928" y="886968"/>
            <a:ext cx="603504" cy="603504"/>
          </a:xfrm>
          <a:prstGeom prst="ellipse">
            <a:avLst/>
          </a:prstGeom>
          <a:solidFill>
            <a:schemeClr val="bg1"/>
          </a:solidFill>
          <a:ln>
            <a:solidFill>
              <a:schemeClr val="bg1"/>
            </a:solidFill>
          </a:ln>
        </p:spPr>
        <p:txBody>
          <a:bodyPr wrap="square" lIns="0" tIns="0" rIns="0" bIns="0" rtlCol="0" anchor="ctr"/>
          <a:lstStyle/>
          <a:p>
            <a:pPr algn="ctr" indent="0" marL="0">
              <a:buNone/>
            </a:pPr>
            <a:r>
              <a:rPr lang="en-US" sz="1800" b="1" dirty="0">
                <a:solidFill>
                  <a:schemeClr val="tx2"/>
                </a:solidFill>
              </a:rPr>
              <a:t>A</a:t>
            </a:r>
            <a:endParaRPr lang="en-US" sz="1800" dirty="0"/>
          </a:p>
        </p:txBody>
      </p:sp>
      <p:sp>
        <p:nvSpPr>
          <p:cNvPr id="12" name="node-9"/>
          <p:cNvSpPr txBox="1"/>
          <p:nvPr/>
        </p:nvSpPr>
        <p:spPr>
          <a:xfrm>
            <a:off x="7836408" y="886968"/>
            <a:ext cx="603504" cy="603504"/>
          </a:xfrm>
          <a:prstGeom prst="ellipse">
            <a:avLst/>
          </a:prstGeom>
          <a:solidFill>
            <a:schemeClr val="bg1"/>
          </a:solidFill>
          <a:ln>
            <a:solidFill>
              <a:schemeClr val="bg1"/>
            </a:solidFill>
          </a:ln>
        </p:spPr>
        <p:txBody>
          <a:bodyPr wrap="square" lIns="0" tIns="0" rIns="0" bIns="0" rtlCol="0" anchor="ctr"/>
          <a:lstStyle/>
          <a:p>
            <a:pPr algn="ctr" indent="0" marL="0">
              <a:buNone/>
            </a:pPr>
            <a:r>
              <a:rPr lang="en-US" sz="1800" b="1" dirty="0">
                <a:solidFill>
                  <a:schemeClr val="tx2"/>
                </a:solidFill>
              </a:rPr>
              <a:t>B</a:t>
            </a:r>
            <a:endParaRPr lang="en-US" sz="1800" dirty="0"/>
          </a:p>
        </p:txBody>
      </p:sp>
      <p:sp>
        <p:nvSpPr>
          <p:cNvPr id="13" name="node-10"/>
          <p:cNvSpPr txBox="1"/>
          <p:nvPr/>
        </p:nvSpPr>
        <p:spPr>
          <a:xfrm>
            <a:off x="7059168" y="2029968"/>
            <a:ext cx="603504" cy="603504"/>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4" name="node-11"/>
          <p:cNvSpPr txBox="1"/>
          <p:nvPr/>
        </p:nvSpPr>
        <p:spPr>
          <a:xfrm>
            <a:off x="6281928" y="3172968"/>
            <a:ext cx="603504" cy="603504"/>
          </a:xfrm>
          <a:prstGeom prst="ellipse">
            <a:avLst/>
          </a:prstGeom>
          <a:solidFill>
            <a:schemeClr val="bg1"/>
          </a:solidFill>
          <a:ln>
            <a:solidFill>
              <a:schemeClr val="bg1"/>
            </a:solidFill>
          </a:ln>
        </p:spPr>
        <p:txBody>
          <a:bodyPr wrap="square" lIns="0" tIns="0" rIns="0" bIns="0" rtlCol="0" anchor="ctr"/>
          <a:lstStyle/>
          <a:p>
            <a:pPr algn="ctr" indent="0" marL="0">
              <a:buNone/>
            </a:pPr>
            <a:r>
              <a:rPr lang="en-US" sz="1800" b="1" dirty="0">
                <a:solidFill>
                  <a:schemeClr val="tx2"/>
                </a:solidFill>
              </a:rPr>
              <a:t>D</a:t>
            </a:r>
            <a:endParaRPr lang="en-US" sz="1800" dirty="0"/>
          </a:p>
        </p:txBody>
      </p:sp>
      <p:sp>
        <p:nvSpPr>
          <p:cNvPr id="15" name="node-12"/>
          <p:cNvSpPr txBox="1"/>
          <p:nvPr/>
        </p:nvSpPr>
        <p:spPr>
          <a:xfrm>
            <a:off x="7836408" y="3172968"/>
            <a:ext cx="603504" cy="603504"/>
          </a:xfrm>
          <a:prstGeom prst="ellipse">
            <a:avLst/>
          </a:prstGeom>
          <a:solidFill>
            <a:schemeClr val="bg1"/>
          </a:solidFill>
          <a:ln>
            <a:solidFill>
              <a:schemeClr val="bg1"/>
            </a:solidFill>
          </a:ln>
        </p:spPr>
        <p:txBody>
          <a:bodyPr wrap="square" lIns="0" tIns="0" rIns="0" bIns="0" rtlCol="0" anchor="ctr"/>
          <a:lstStyle/>
          <a:p>
            <a:pPr algn="ctr" indent="0" marL="0">
              <a:buNone/>
            </a:pPr>
            <a:r>
              <a:rPr lang="en-US" sz="1800" b="1" dirty="0">
                <a:solidFill>
                  <a:schemeClr val="tx2"/>
                </a:solidFill>
              </a:rPr>
              <a:t>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THE TASK</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Does a causal claim follow from correlations?</a:t>
            </a:r>
            <a:endParaRPr lang="en-US" sz="2600" dirty="0"/>
          </a:p>
        </p:txBody>
      </p:sp>
      <p:sp>
        <p:nvSpPr>
          <p:cNvPr id="4" name="card-13"/>
          <p:cNvSpPr/>
          <p:nvPr/>
        </p:nvSpPr>
        <p:spPr>
          <a:xfrm>
            <a:off x="457200" y="1188720"/>
            <a:ext cx="4937760" cy="2377440"/>
          </a:xfrm>
          <a:prstGeom prst="roundRect">
            <a:avLst>
              <a:gd name="adj" fmla="val 3077"/>
            </a:avLst>
          </a:prstGeom>
          <a:solidFill>
            <a:schemeClr val="bg2"/>
          </a:solidFill>
          <a:ln w="12700">
            <a:solidFill>
              <a:schemeClr val="bg2"/>
            </a:solidFill>
            <a:prstDash val="solid"/>
          </a:ln>
        </p:spPr>
      </p:sp>
      <p:sp>
        <p:nvSpPr>
          <p:cNvPr id="5" name="text-14"/>
          <p:cNvSpPr txBox="1"/>
          <p:nvPr/>
        </p:nvSpPr>
        <p:spPr>
          <a:xfrm>
            <a:off x="685800" y="1325880"/>
            <a:ext cx="4480560" cy="2148840"/>
          </a:xfrm>
          <a:prstGeom prst="rect">
            <a:avLst/>
          </a:prstGeom>
          <a:noFill/>
          <a:ln/>
        </p:spPr>
        <p:txBody>
          <a:bodyPr wrap="square" lIns="0" tIns="0" rIns="0" bIns="0" rtlCol="0" anchor="t"/>
          <a:lstStyle/>
          <a:p>
            <a:pPr indent="0" marL="0">
              <a:buNone/>
            </a:pPr>
            <a:r>
              <a:rPr lang="en-US" sz="1400" b="1" dirty="0">
                <a:solidFill>
                  <a:schemeClr val="accent1"/>
                </a:solidFill>
              </a:rPr>
              <a:t>Premise</a:t>
            </a:r>
            <a:endParaRPr lang="en-US" sz="1400" dirty="0"/>
          </a:p>
          <a:p>
            <a:pPr indent="0" marL="0">
              <a:buNone/>
            </a:pPr>
            <a:r>
              <a:rPr lang="en-US" sz="1400" dirty="0">
                <a:solidFill>
                  <a:schemeClr val="tx1"/>
                </a:solidFill>
              </a:rPr>
              <a:t>A closed system of 3 variables, A, B and C. A correlates with C. B correlates with C. However, A is independent of B.</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Hypothesis</a:t>
            </a:r>
            <a:endParaRPr lang="en-US" sz="1400" dirty="0"/>
          </a:p>
          <a:p>
            <a:pPr indent="0" marL="0">
              <a:buNone/>
            </a:pPr>
            <a:r>
              <a:rPr lang="en-US" sz="1400" dirty="0">
                <a:solidFill>
                  <a:schemeClr val="tx1"/>
                </a:solidFill>
              </a:rPr>
              <a:t>A directly causes C.</a:t>
            </a:r>
            <a:endParaRPr lang="en-US" sz="1400" dirty="0"/>
          </a:p>
          <a:p>
            <a:pPr indent="0" marL="0">
              <a:buNone/>
            </a:pPr>
            <a:r>
              <a:rPr lang="en-US" sz="600" dirty="0">
                <a:solidFill>
                  <a:schemeClr val="tx1"/>
                </a:solidFill>
              </a:rPr>
              <a:t> </a:t>
            </a:r>
            <a:endParaRPr lang="en-US" sz="1400" dirty="0"/>
          </a:p>
          <a:p>
            <a:pPr indent="0" marL="0">
              <a:buNone/>
            </a:pPr>
            <a:r>
              <a:rPr lang="en-US" sz="1400" b="1" dirty="0">
                <a:solidFill>
                  <a:schemeClr val="accent1"/>
                </a:solidFill>
              </a:rPr>
              <a:t>Label</a:t>
            </a:r>
            <a:endParaRPr lang="en-US" sz="1400" dirty="0"/>
          </a:p>
          <a:p>
            <a:pPr indent="0" marL="0">
              <a:buNone/>
            </a:pPr>
            <a:r>
              <a:rPr lang="en-US" sz="1400" dirty="0">
                <a:solidFill>
                  <a:schemeClr val="tx1"/>
                </a:solidFill>
              </a:rPr>
              <a:t>1, valid: the only graph that fits is A → C ← B</a:t>
            </a:r>
            <a:endParaRPr lang="en-US" sz="1400" dirty="0"/>
          </a:p>
        </p:txBody>
      </p:sp>
      <p:sp>
        <p:nvSpPr>
          <p:cNvPr id="6" name="text-15"/>
          <p:cNvSpPr txBox="1"/>
          <p:nvPr/>
        </p:nvSpPr>
        <p:spPr>
          <a:xfrm>
            <a:off x="457200" y="3794760"/>
            <a:ext cx="4937760" cy="548640"/>
          </a:xfrm>
          <a:prstGeom prst="rect">
            <a:avLst/>
          </a:prstGeom>
          <a:noFill/>
          <a:ln/>
        </p:spPr>
        <p:txBody>
          <a:bodyPr wrap="square" lIns="0" tIns="0" rIns="0" bIns="0" rtlCol="0" anchor="t"/>
          <a:lstStyle/>
          <a:p>
            <a:pPr indent="0" marL="0">
              <a:buNone/>
            </a:pPr>
            <a:r>
              <a:rPr lang="en-US" sz="1200" dirty="0">
                <a:solidFill>
                  <a:schemeClr val="accent5"/>
                </a:solidFill>
              </a:rPr>
              <a:t>Corr2Cause (Jin et al., ICLR 2024): 206K train, 1,076 validation and 1,162 test claims, 2–6 variables, 6 claim types.</a:t>
            </a:r>
            <a:endParaRPr lang="en-US" sz="1200" dirty="0"/>
          </a:p>
        </p:txBody>
      </p:sp>
      <p:sp>
        <p:nvSpPr>
          <p:cNvPr id="7" name="arrow-16"/>
          <p:cNvSpPr/>
          <p:nvPr/>
        </p:nvSpPr>
        <p:spPr>
          <a:xfrm>
            <a:off x="6303675" y="1809612"/>
            <a:ext cx="651450" cy="769896"/>
          </a:xfrm>
          <a:prstGeom prst="line">
            <a:avLst/>
          </a:prstGeom>
          <a:noFill/>
          <a:ln w="25400">
            <a:solidFill>
              <a:schemeClr val="accent1"/>
            </a:solidFill>
            <a:prstDash val="solid"/>
            <a:tailEnd type="triangle"/>
          </a:ln>
        </p:spPr>
      </p:sp>
      <p:sp>
        <p:nvSpPr>
          <p:cNvPr id="8" name="arrow-17"/>
          <p:cNvSpPr/>
          <p:nvPr/>
        </p:nvSpPr>
        <p:spPr>
          <a:xfrm flipH="1">
            <a:off x="7309515" y="1809612"/>
            <a:ext cx="651450" cy="769896"/>
          </a:xfrm>
          <a:prstGeom prst="line">
            <a:avLst/>
          </a:prstGeom>
          <a:noFill/>
          <a:ln w="25400">
            <a:solidFill>
              <a:schemeClr val="accent1"/>
            </a:solidFill>
            <a:prstDash val="solid"/>
            <a:tailEnd type="triangle"/>
          </a:ln>
        </p:spPr>
      </p:sp>
      <p:sp>
        <p:nvSpPr>
          <p:cNvPr id="9" name="node-18"/>
          <p:cNvSpPr txBox="1"/>
          <p:nvPr/>
        </p:nvSpPr>
        <p:spPr>
          <a:xfrm>
            <a:off x="5852160" y="1325880"/>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A</a:t>
            </a:r>
            <a:endParaRPr lang="en-US" sz="1600" dirty="0"/>
          </a:p>
        </p:txBody>
      </p:sp>
      <p:sp>
        <p:nvSpPr>
          <p:cNvPr id="10" name="node-19"/>
          <p:cNvSpPr txBox="1"/>
          <p:nvPr/>
        </p:nvSpPr>
        <p:spPr>
          <a:xfrm>
            <a:off x="7863840" y="1325880"/>
            <a:ext cx="548640" cy="54864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1" name="node-20"/>
          <p:cNvSpPr txBox="1"/>
          <p:nvPr/>
        </p:nvSpPr>
        <p:spPr>
          <a:xfrm>
            <a:off x="6858000" y="25146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2" name="text-21"/>
          <p:cNvSpPr txBox="1"/>
          <p:nvPr/>
        </p:nvSpPr>
        <p:spPr>
          <a:xfrm>
            <a:off x="5760720" y="3337560"/>
            <a:ext cx="2926080" cy="914400"/>
          </a:xfrm>
          <a:prstGeom prst="rect">
            <a:avLst/>
          </a:prstGeom>
          <a:noFill/>
          <a:ln/>
        </p:spPr>
        <p:txBody>
          <a:bodyPr wrap="square" lIns="0" tIns="0" rIns="0" bIns="0" rtlCol="0" anchor="t"/>
          <a:lstStyle/>
          <a:p>
            <a:pPr indent="0" marL="0">
              <a:buNone/>
            </a:pPr>
            <a:r>
              <a:rPr lang="en-US" sz="1300" i="1" dirty="0">
                <a:solidFill>
                  <a:schemeClr val="accent5"/>
                </a:solidFill>
              </a:rPr>
              <a:t>A claim is valid only if it holds in every causal graph that fits the premise.</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OUR APPROACH</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The text proposes, the graph decides</a:t>
            </a:r>
            <a:endParaRPr lang="en-US" sz="2600" dirty="0"/>
          </a:p>
        </p:txBody>
      </p:sp>
      <p:sp>
        <p:nvSpPr>
          <p:cNvPr id="4" name="arrow-22"/>
          <p:cNvSpPr/>
          <p:nvPr/>
        </p:nvSpPr>
        <p:spPr>
          <a:xfrm>
            <a:off x="1417320" y="1783080"/>
            <a:ext cx="960120" cy="0"/>
          </a:xfrm>
          <a:prstGeom prst="line">
            <a:avLst/>
          </a:prstGeom>
          <a:noFill/>
          <a:ln w="25400">
            <a:solidFill>
              <a:schemeClr val="accent1"/>
            </a:solidFill>
            <a:prstDash val="solid"/>
            <a:tailEnd type="triangle"/>
          </a:ln>
        </p:spPr>
      </p:sp>
      <p:sp>
        <p:nvSpPr>
          <p:cNvPr id="5" name="node-23"/>
          <p:cNvSpPr txBox="1"/>
          <p:nvPr/>
        </p:nvSpPr>
        <p:spPr>
          <a:xfrm>
            <a:off x="594360" y="1371600"/>
            <a:ext cx="822960" cy="8229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01</a:t>
            </a:r>
            <a:endParaRPr lang="en-US" sz="1800" dirty="0"/>
          </a:p>
        </p:txBody>
      </p:sp>
      <p:sp>
        <p:nvSpPr>
          <p:cNvPr id="6" name="text-24"/>
          <p:cNvSpPr txBox="1"/>
          <p:nvPr/>
        </p:nvSpPr>
        <p:spPr>
          <a:xfrm>
            <a:off x="182880" y="2331720"/>
            <a:ext cx="1645920" cy="594360"/>
          </a:xfrm>
          <a:prstGeom prst="rect">
            <a:avLst/>
          </a:prstGeom>
          <a:noFill/>
          <a:ln/>
        </p:spPr>
        <p:txBody>
          <a:bodyPr wrap="square" lIns="0" tIns="0" rIns="0" bIns="0" rtlCol="0" anchor="t"/>
          <a:lstStyle/>
          <a:p>
            <a:pPr algn="ctr" indent="0" marL="0">
              <a:buNone/>
            </a:pPr>
            <a:r>
              <a:rPr lang="en-US" sz="1400" b="1" dirty="0">
                <a:solidFill>
                  <a:schemeClr val="tx2"/>
                </a:solidFill>
              </a:rPr>
              <a:t>Clean &amp; explore</a:t>
            </a:r>
            <a:endParaRPr lang="en-US" sz="1400" dirty="0"/>
          </a:p>
          <a:p>
            <a:pPr algn="ctr" indent="0" marL="0">
              <a:buNone/>
            </a:pPr>
            <a:r>
              <a:rPr lang="en-US" sz="1200" dirty="0">
                <a:solidFill>
                  <a:schemeClr val="accent5"/>
                </a:solidFill>
              </a:rPr>
              <a:t>Chaitanya</a:t>
            </a:r>
            <a:endParaRPr lang="en-US" sz="1400" dirty="0"/>
          </a:p>
        </p:txBody>
      </p:sp>
      <p:sp>
        <p:nvSpPr>
          <p:cNvPr id="7" name="arrow-25"/>
          <p:cNvSpPr/>
          <p:nvPr/>
        </p:nvSpPr>
        <p:spPr>
          <a:xfrm>
            <a:off x="3200400" y="1783080"/>
            <a:ext cx="960120" cy="0"/>
          </a:xfrm>
          <a:prstGeom prst="line">
            <a:avLst/>
          </a:prstGeom>
          <a:noFill/>
          <a:ln w="25400">
            <a:solidFill>
              <a:schemeClr val="accent1"/>
            </a:solidFill>
            <a:prstDash val="solid"/>
            <a:tailEnd type="triangle"/>
          </a:ln>
        </p:spPr>
      </p:sp>
      <p:sp>
        <p:nvSpPr>
          <p:cNvPr id="8" name="node-26"/>
          <p:cNvSpPr txBox="1"/>
          <p:nvPr/>
        </p:nvSpPr>
        <p:spPr>
          <a:xfrm>
            <a:off x="2377440" y="1371600"/>
            <a:ext cx="822960" cy="8229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bg1"/>
                </a:solidFill>
              </a:rPr>
              <a:t>02</a:t>
            </a:r>
            <a:endParaRPr lang="en-US" sz="1800" dirty="0"/>
          </a:p>
        </p:txBody>
      </p:sp>
      <p:sp>
        <p:nvSpPr>
          <p:cNvPr id="9" name="text-27"/>
          <p:cNvSpPr txBox="1"/>
          <p:nvPr/>
        </p:nvSpPr>
        <p:spPr>
          <a:xfrm>
            <a:off x="1965960" y="2331720"/>
            <a:ext cx="1645920" cy="594360"/>
          </a:xfrm>
          <a:prstGeom prst="rect">
            <a:avLst/>
          </a:prstGeom>
          <a:noFill/>
          <a:ln/>
        </p:spPr>
        <p:txBody>
          <a:bodyPr wrap="square" lIns="0" tIns="0" rIns="0" bIns="0" rtlCol="0" anchor="t"/>
          <a:lstStyle/>
          <a:p>
            <a:pPr algn="ctr" indent="0" marL="0">
              <a:buNone/>
            </a:pPr>
            <a:r>
              <a:rPr lang="en-US" sz="1400" b="1" dirty="0">
                <a:solidFill>
                  <a:schemeClr val="tx2"/>
                </a:solidFill>
              </a:rPr>
              <a:t>Parse &amp; run PC</a:t>
            </a:r>
            <a:endParaRPr lang="en-US" sz="1400" dirty="0"/>
          </a:p>
          <a:p>
            <a:pPr algn="ctr" indent="0" marL="0">
              <a:buNone/>
            </a:pPr>
            <a:r>
              <a:rPr lang="en-US" sz="1200" dirty="0">
                <a:solidFill>
                  <a:schemeClr val="accent5"/>
                </a:solidFill>
              </a:rPr>
              <a:t>Rakshita</a:t>
            </a:r>
            <a:endParaRPr lang="en-US" sz="1400" dirty="0"/>
          </a:p>
        </p:txBody>
      </p:sp>
      <p:sp>
        <p:nvSpPr>
          <p:cNvPr id="10" name="arrow-28"/>
          <p:cNvSpPr/>
          <p:nvPr/>
        </p:nvSpPr>
        <p:spPr>
          <a:xfrm>
            <a:off x="4983480" y="1783080"/>
            <a:ext cx="960120" cy="0"/>
          </a:xfrm>
          <a:prstGeom prst="line">
            <a:avLst/>
          </a:prstGeom>
          <a:noFill/>
          <a:ln w="25400">
            <a:solidFill>
              <a:schemeClr val="accent1"/>
            </a:solidFill>
            <a:prstDash val="solid"/>
            <a:tailEnd type="triangle"/>
          </a:ln>
        </p:spPr>
      </p:sp>
      <p:sp>
        <p:nvSpPr>
          <p:cNvPr id="11" name="node-29"/>
          <p:cNvSpPr txBox="1"/>
          <p:nvPr/>
        </p:nvSpPr>
        <p:spPr>
          <a:xfrm>
            <a:off x="4160520" y="1371600"/>
            <a:ext cx="822960" cy="8229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03</a:t>
            </a:r>
            <a:endParaRPr lang="en-US" sz="1800" dirty="0"/>
          </a:p>
        </p:txBody>
      </p:sp>
      <p:sp>
        <p:nvSpPr>
          <p:cNvPr id="12" name="text-30"/>
          <p:cNvSpPr txBox="1"/>
          <p:nvPr/>
        </p:nvSpPr>
        <p:spPr>
          <a:xfrm>
            <a:off x="3749040" y="2331720"/>
            <a:ext cx="1645920" cy="594360"/>
          </a:xfrm>
          <a:prstGeom prst="rect">
            <a:avLst/>
          </a:prstGeom>
          <a:noFill/>
          <a:ln/>
        </p:spPr>
        <p:txBody>
          <a:bodyPr wrap="square" lIns="0" tIns="0" rIns="0" bIns="0" rtlCol="0" anchor="t"/>
          <a:lstStyle/>
          <a:p>
            <a:pPr algn="ctr" indent="0" marL="0">
              <a:buNone/>
            </a:pPr>
            <a:r>
              <a:rPr lang="en-US" sz="1400" b="1" dirty="0">
                <a:solidFill>
                  <a:schemeClr val="tx2"/>
                </a:solidFill>
              </a:rPr>
              <a:t>Build features</a:t>
            </a:r>
            <a:endParaRPr lang="en-US" sz="1400" dirty="0"/>
          </a:p>
          <a:p>
            <a:pPr algn="ctr" indent="0" marL="0">
              <a:buNone/>
            </a:pPr>
            <a:r>
              <a:rPr lang="en-US" sz="1200" dirty="0">
                <a:solidFill>
                  <a:schemeClr val="accent5"/>
                </a:solidFill>
              </a:rPr>
              <a:t>Dhanvin</a:t>
            </a:r>
            <a:endParaRPr lang="en-US" sz="1400" dirty="0"/>
          </a:p>
        </p:txBody>
      </p:sp>
      <p:sp>
        <p:nvSpPr>
          <p:cNvPr id="13" name="arrow-31"/>
          <p:cNvSpPr/>
          <p:nvPr/>
        </p:nvSpPr>
        <p:spPr>
          <a:xfrm>
            <a:off x="6766560" y="1783080"/>
            <a:ext cx="960120" cy="0"/>
          </a:xfrm>
          <a:prstGeom prst="line">
            <a:avLst/>
          </a:prstGeom>
          <a:noFill/>
          <a:ln w="25400">
            <a:solidFill>
              <a:schemeClr val="accent1"/>
            </a:solidFill>
            <a:prstDash val="solid"/>
            <a:tailEnd type="triangle"/>
          </a:ln>
        </p:spPr>
      </p:sp>
      <p:sp>
        <p:nvSpPr>
          <p:cNvPr id="14" name="node-32"/>
          <p:cNvSpPr txBox="1"/>
          <p:nvPr/>
        </p:nvSpPr>
        <p:spPr>
          <a:xfrm>
            <a:off x="5943600" y="1371600"/>
            <a:ext cx="822960" cy="8229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04</a:t>
            </a:r>
            <a:endParaRPr lang="en-US" sz="1800" dirty="0"/>
          </a:p>
        </p:txBody>
      </p:sp>
      <p:sp>
        <p:nvSpPr>
          <p:cNvPr id="15" name="text-33"/>
          <p:cNvSpPr txBox="1"/>
          <p:nvPr/>
        </p:nvSpPr>
        <p:spPr>
          <a:xfrm>
            <a:off x="5532120" y="2331720"/>
            <a:ext cx="1645920" cy="594360"/>
          </a:xfrm>
          <a:prstGeom prst="rect">
            <a:avLst/>
          </a:prstGeom>
          <a:noFill/>
          <a:ln/>
        </p:spPr>
        <p:txBody>
          <a:bodyPr wrap="square" lIns="0" tIns="0" rIns="0" bIns="0" rtlCol="0" anchor="t"/>
          <a:lstStyle/>
          <a:p>
            <a:pPr algn="ctr" indent="0" marL="0">
              <a:buNone/>
            </a:pPr>
            <a:r>
              <a:rPr lang="en-US" sz="1400" b="1" dirty="0">
                <a:solidFill>
                  <a:schemeClr val="tx2"/>
                </a:solidFill>
              </a:rPr>
              <a:t>Train &amp; evaluate</a:t>
            </a:r>
            <a:endParaRPr lang="en-US" sz="1400" dirty="0"/>
          </a:p>
          <a:p>
            <a:pPr algn="ctr" indent="0" marL="0">
              <a:buNone/>
            </a:pPr>
            <a:r>
              <a:rPr lang="en-US" sz="1200" dirty="0">
                <a:solidFill>
                  <a:schemeClr val="accent5"/>
                </a:solidFill>
              </a:rPr>
              <a:t>Lalithendra</a:t>
            </a:r>
            <a:endParaRPr lang="en-US" sz="1400" dirty="0"/>
          </a:p>
        </p:txBody>
      </p:sp>
      <p:sp>
        <p:nvSpPr>
          <p:cNvPr id="16" name="node-34"/>
          <p:cNvSpPr txBox="1"/>
          <p:nvPr/>
        </p:nvSpPr>
        <p:spPr>
          <a:xfrm>
            <a:off x="7726680" y="1371600"/>
            <a:ext cx="822960" cy="82296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800" b="1" dirty="0">
                <a:solidFill>
                  <a:schemeClr val="bg1"/>
                </a:solidFill>
              </a:rPr>
              <a:t>05</a:t>
            </a:r>
            <a:endParaRPr lang="en-US" sz="1800" dirty="0"/>
          </a:p>
        </p:txBody>
      </p:sp>
      <p:sp>
        <p:nvSpPr>
          <p:cNvPr id="17" name="text-35"/>
          <p:cNvSpPr txBox="1"/>
          <p:nvPr/>
        </p:nvSpPr>
        <p:spPr>
          <a:xfrm>
            <a:off x="7315200" y="2331720"/>
            <a:ext cx="1645920" cy="594360"/>
          </a:xfrm>
          <a:prstGeom prst="rect">
            <a:avLst/>
          </a:prstGeom>
          <a:noFill/>
          <a:ln/>
        </p:spPr>
        <p:txBody>
          <a:bodyPr wrap="square" lIns="0" tIns="0" rIns="0" bIns="0" rtlCol="0" anchor="t"/>
          <a:lstStyle/>
          <a:p>
            <a:pPr algn="ctr" indent="0" marL="0">
              <a:buNone/>
            </a:pPr>
            <a:r>
              <a:rPr lang="en-US" sz="1400" b="1" dirty="0">
                <a:solidFill>
                  <a:schemeClr val="tx2"/>
                </a:solidFill>
              </a:rPr>
              <a:t>DAG &amp; what-if</a:t>
            </a:r>
            <a:endParaRPr lang="en-US" sz="1400" dirty="0"/>
          </a:p>
          <a:p>
            <a:pPr algn="ctr" indent="0" marL="0">
              <a:buNone/>
            </a:pPr>
            <a:r>
              <a:rPr lang="en-US" sz="1200" dirty="0">
                <a:solidFill>
                  <a:schemeClr val="accent5"/>
                </a:solidFill>
              </a:rPr>
              <a:t>Jagruthi</a:t>
            </a:r>
            <a:endParaRPr lang="en-US" sz="1400" dirty="0"/>
          </a:p>
        </p:txBody>
      </p:sp>
      <p:sp>
        <p:nvSpPr>
          <p:cNvPr id="18" name="card-36"/>
          <p:cNvSpPr/>
          <p:nvPr/>
        </p:nvSpPr>
        <p:spPr>
          <a:xfrm>
            <a:off x="457200" y="3246120"/>
            <a:ext cx="3977640" cy="1280160"/>
          </a:xfrm>
          <a:prstGeom prst="roundRect">
            <a:avLst>
              <a:gd name="adj" fmla="val 5714"/>
            </a:avLst>
          </a:prstGeom>
          <a:solidFill>
            <a:schemeClr val="bg2"/>
          </a:solidFill>
          <a:ln w="12700">
            <a:solidFill>
              <a:schemeClr val="bg2"/>
            </a:solidFill>
            <a:prstDash val="solid"/>
          </a:ln>
        </p:spPr>
      </p:sp>
      <p:sp>
        <p:nvSpPr>
          <p:cNvPr id="19" name="card-37"/>
          <p:cNvSpPr/>
          <p:nvPr/>
        </p:nvSpPr>
        <p:spPr>
          <a:xfrm>
            <a:off x="4709160" y="3246120"/>
            <a:ext cx="3977640" cy="1280160"/>
          </a:xfrm>
          <a:prstGeom prst="roundRect">
            <a:avLst>
              <a:gd name="adj" fmla="val 5714"/>
            </a:avLst>
          </a:prstGeom>
          <a:solidFill>
            <a:schemeClr val="bg2"/>
          </a:solidFill>
          <a:ln w="12700">
            <a:solidFill>
              <a:schemeClr val="bg2"/>
            </a:solidFill>
            <a:prstDash val="solid"/>
          </a:ln>
        </p:spPr>
      </p:sp>
      <p:sp>
        <p:nvSpPr>
          <p:cNvPr id="20" name="text-38"/>
          <p:cNvSpPr txBox="1"/>
          <p:nvPr/>
        </p:nvSpPr>
        <p:spPr>
          <a:xfrm>
            <a:off x="640080" y="3383280"/>
            <a:ext cx="3611880" cy="1051560"/>
          </a:xfrm>
          <a:prstGeom prst="rect">
            <a:avLst/>
          </a:prstGeom>
          <a:noFill/>
          <a:ln/>
        </p:spPr>
        <p:txBody>
          <a:bodyPr wrap="square" lIns="0" tIns="0" rIns="0" bIns="0" rtlCol="0" anchor="t"/>
          <a:lstStyle/>
          <a:p>
            <a:pPr indent="0" marL="0">
              <a:buNone/>
            </a:pPr>
            <a:r>
              <a:rPr lang="en-US" sz="1400" b="1" dirty="0">
                <a:solidFill>
                  <a:schemeClr val="accent2"/>
                </a:solidFill>
              </a:rPr>
              <a:t>Language side</a:t>
            </a:r>
            <a:endParaRPr lang="en-US" sz="1400" dirty="0"/>
          </a:p>
          <a:p>
            <a:pPr indent="0" marL="0">
              <a:buNone/>
            </a:pPr>
            <a:r>
              <a:rPr lang="en-US" sz="1300" dirty="0">
                <a:solidFill>
                  <a:schemeClr val="tx1"/>
                </a:solidFill>
              </a:rPr>
              <a:t>Regex parser and TF-IDF read the premise and the claim. Classifiers learn which facts make a claim valid.</a:t>
            </a:r>
            <a:endParaRPr lang="en-US" sz="1400" dirty="0"/>
          </a:p>
        </p:txBody>
      </p:sp>
      <p:sp>
        <p:nvSpPr>
          <p:cNvPr id="21" name="text-39"/>
          <p:cNvSpPr txBox="1"/>
          <p:nvPr/>
        </p:nvSpPr>
        <p:spPr>
          <a:xfrm>
            <a:off x="4892040" y="3383280"/>
            <a:ext cx="3611880" cy="1051560"/>
          </a:xfrm>
          <a:prstGeom prst="rect">
            <a:avLst/>
          </a:prstGeom>
          <a:noFill/>
          <a:ln/>
        </p:spPr>
        <p:txBody>
          <a:bodyPr wrap="square" lIns="0" tIns="0" rIns="0" bIns="0" rtlCol="0" anchor="t"/>
          <a:lstStyle/>
          <a:p>
            <a:pPr indent="0" marL="0">
              <a:buNone/>
            </a:pPr>
            <a:r>
              <a:rPr lang="en-US" sz="1400" b="1" dirty="0">
                <a:solidFill>
                  <a:schemeClr val="accent1"/>
                </a:solidFill>
              </a:rPr>
              <a:t>Symbolic side</a:t>
            </a:r>
            <a:endParaRPr lang="en-US" sz="1400" dirty="0"/>
          </a:p>
          <a:p>
            <a:pPr indent="0" marL="0">
              <a:buNone/>
            </a:pPr>
            <a:r>
              <a:rPr lang="en-US" sz="1300" dirty="0">
                <a:solidFill>
                  <a:schemeClr val="tx1"/>
                </a:solidFill>
              </a:rPr>
              <a:t>PC builds the causal graph. The DAG stage blocks cycles and self-loops. The Bayesian network answers do(X) questions.</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01 · DATA AND EDA · CHAITANYA SAI MEKA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Clean splits with no premise leakage</a:t>
            </a:r>
            <a:endParaRPr lang="en-US" sz="2600" dirty="0"/>
          </a:p>
        </p:txBody>
      </p:sp>
      <p:graphicFrame>
        <p:nvGraphicFramePr>
          <p:cNvPr id="6" name="table-53"/>
          <p:cNvGraphicFramePr>
            <a:graphicFrameLocks noGrp="1"/>
          </p:cNvGraphicFramePr>
          <p:nvPr>
            <p:extLst>
              <p:ext uri="{D42A27DB-BD31-4B8C-83A1-F6EECF244321}">
                <p14:modId xmlns:p14="http://schemas.microsoft.com/office/powerpoint/2010/main" val="1579011935"/>
              </p:ext>
            </p:extLst>
          </p:nvPr>
        </p:nvGraphicFramePr>
        <p:xfrm>
          <a:off x="457200" y="1234440"/>
          <a:ext cx="4389120" cy="914400"/>
        </p:xfrm>
        <a:graphic>
          <a:graphicData uri="http://schemas.openxmlformats.org/drawingml/2006/table">
            <a:tbl>
              <a:tblPr/>
              <a:tblGrid>
                <a:gridCol w="2011680"/>
                <a:gridCol w="1188720"/>
                <a:gridCol w="1188720"/>
              </a:tblGrid>
              <a:tr h="329184">
                <a:tc>
                  <a:txBody>
                    <a:bodyPr/>
                    <a:lstStyle/>
                    <a:p>
                      <a:pPr indent="0" marL="0">
                        <a:buNone/>
                      </a:pPr>
                      <a:r>
                        <a:rPr lang="en-US" sz="1300" b="1" dirty="0">
                          <a:solidFill>
                            <a:schemeClr val="bg1"/>
                          </a:solidFill>
                        </a:rPr>
                        <a:t>Split</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Rows</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Premises</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r>
              <a:tr h="329184">
                <a:tc>
                  <a:txBody>
                    <a:bodyPr/>
                    <a:lstStyle/>
                    <a:p>
                      <a:pPr indent="0" marL="0">
                        <a:buNone/>
                      </a:pPr>
                      <a:r>
                        <a:rPr lang="en-US" sz="1300" dirty="0">
                          <a:solidFill>
                            <a:schemeClr val="tx1"/>
                          </a:solidFill>
                        </a:rPr>
                        <a:t>Train (sampled)</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35,340</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400</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29184">
                <a:tc>
                  <a:txBody>
                    <a:bodyPr/>
                    <a:lstStyle/>
                    <a:p>
                      <a:pPr indent="0" marL="0">
                        <a:buNone/>
                      </a:pPr>
                      <a:r>
                        <a:rPr lang="en-US" sz="1300" dirty="0">
                          <a:solidFill>
                            <a:schemeClr val="tx1"/>
                          </a:solidFill>
                        </a:rPr>
                        <a:t>Validation</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1,026</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19</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29184">
                <a:tc>
                  <a:txBody>
                    <a:bodyPr/>
                    <a:lstStyle/>
                    <a:p>
                      <a:pPr indent="0" marL="0">
                        <a:buNone/>
                      </a:pPr>
                      <a:r>
                        <a:rPr lang="en-US" sz="1300" dirty="0">
                          <a:solidFill>
                            <a:schemeClr val="tx1"/>
                          </a:solidFill>
                        </a:rPr>
                        <a:t>Test</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1,162</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21</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bl>
          </a:graphicData>
        </a:graphic>
      </p:graphicFrame>
      <p:sp>
        <p:nvSpPr>
          <p:cNvPr id="5" name="bullets-54"/>
          <p:cNvSpPr txBox="1"/>
          <p:nvPr/>
        </p:nvSpPr>
        <p:spPr>
          <a:xfrm>
            <a:off x="457200" y="2743200"/>
            <a:ext cx="4389120" cy="182880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Split each input into premise and hypothesis; give every premise an ID</a:t>
            </a:r>
            <a:endParaRPr lang="en-US" sz="1300" dirty="0"/>
          </a:p>
          <a:p>
            <a:pPr marL="177800" indent="-177800">
              <a:spcAft>
                <a:spcPts val="600"/>
              </a:spcAft>
              <a:buSzPct val="100000"/>
              <a:buChar char="•"/>
            </a:pPr>
            <a:r>
              <a:rPr lang="en-US" sz="1300" dirty="0">
                <a:solidFill>
                  <a:schemeClr val="tx1"/>
                </a:solidFill>
              </a:rPr>
              <a:t>5 premises appeared in two splits; we removed them from train and validation</a:t>
            </a:r>
            <a:endParaRPr lang="en-US" sz="1300" dirty="0"/>
          </a:p>
          <a:p>
            <a:pPr marL="177800" indent="-177800">
              <a:spcAft>
                <a:spcPts val="600"/>
              </a:spcAft>
              <a:buSzPct val="100000"/>
              <a:buChar char="•"/>
            </a:pPr>
            <a:r>
              <a:rPr lang="en-US" sz="1300" dirty="0">
                <a:solidFill>
                  <a:schemeClr val="tx1"/>
                </a:solidFill>
              </a:rPr>
              <a:t>Sampled 400 whole premises (seed 42); valid share stays 18.5%</a:t>
            </a:r>
            <a:endParaRPr lang="en-US" sz="1300" dirty="0"/>
          </a:p>
        </p:txBody>
      </p:sp>
      <p:pic>
        <p:nvPicPr>
          <p:cNvPr id="6" name="figure-55" descr="Bar chart: share of valid claims per split, 13 to 19 percent">    </p:cNvPr>
          <p:cNvPicPr>
            <a:picLocks noChangeAspect="1"/>
          </p:cNvPicPr>
          <p:nvPr/>
        </p:nvPicPr>
        <p:blipFill>
          <a:blip r:embed="rId1"/>
          <a:stretch>
            <a:fillRect/>
          </a:stretch>
        </p:blipFill>
        <p:spPr>
          <a:xfrm>
            <a:off x="5257800" y="1188720"/>
            <a:ext cx="3383280" cy="3044952"/>
          </a:xfrm>
          <a:prstGeom prst="rect">
            <a:avLst/>
          </a:prstGeom>
        </p:spPr>
      </p:pic>
      <p:sp>
        <p:nvSpPr>
          <p:cNvPr id="7" name="text-56"/>
          <p:cNvSpPr txBox="1"/>
          <p:nvPr/>
        </p:nvSpPr>
        <p:spPr>
          <a:xfrm>
            <a:off x="5257800" y="4297680"/>
            <a:ext cx="3383280" cy="274320"/>
          </a:xfrm>
          <a:prstGeom prst="rect">
            <a:avLst/>
          </a:prstGeom>
          <a:noFill/>
          <a:ln/>
        </p:spPr>
        <p:txBody>
          <a:bodyPr wrap="square" lIns="0" tIns="0" rIns="0" bIns="0" rtlCol="0" anchor="t"/>
          <a:lstStyle/>
          <a:p>
            <a:pPr algn="ctr" indent="0" marL="0">
              <a:buNone/>
            </a:pPr>
            <a:r>
              <a:rPr lang="en-US" sz="1100" dirty="0">
                <a:solidFill>
                  <a:schemeClr val="accent5"/>
                </a:solidFill>
              </a:rPr>
              <a:t>Only 13–19% of claims are valid in each split</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01 · DATA AND EDA · CHAITANYA SAI MEKA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Three findings that shaped the design</a:t>
            </a:r>
            <a:endParaRPr lang="en-US" sz="2600" dirty="0"/>
          </a:p>
        </p:txBody>
      </p:sp>
      <p:pic>
        <p:nvPicPr>
          <p:cNvPr id="4" name="figure-57" descr="Bar chart: share of valid claims per claim type; child is never valid">    </p:cNvPr>
          <p:cNvPicPr>
            <a:picLocks noChangeAspect="1"/>
          </p:cNvPicPr>
          <p:nvPr/>
        </p:nvPicPr>
        <p:blipFill>
          <a:blip r:embed="rId1"/>
          <a:stretch>
            <a:fillRect/>
          </a:stretch>
        </p:blipFill>
        <p:spPr>
          <a:xfrm>
            <a:off x="457200" y="1280160"/>
            <a:ext cx="4206240" cy="2624328"/>
          </a:xfrm>
          <a:prstGeom prst="rect">
            <a:avLst/>
          </a:prstGeom>
        </p:spPr>
      </p:pic>
      <p:sp>
        <p:nvSpPr>
          <p:cNvPr id="5" name="text-58"/>
          <p:cNvSpPr txBox="1"/>
          <p:nvPr/>
        </p:nvSpPr>
        <p:spPr>
          <a:xfrm>
            <a:off x="457200" y="3977640"/>
            <a:ext cx="4206240" cy="274320"/>
          </a:xfrm>
          <a:prstGeom prst="rect">
            <a:avLst/>
          </a:prstGeom>
          <a:noFill/>
          <a:ln/>
        </p:spPr>
        <p:txBody>
          <a:bodyPr wrap="square" lIns="0" tIns="0" rIns="0" bIns="0" rtlCol="0" anchor="t"/>
          <a:lstStyle/>
          <a:p>
            <a:pPr algn="ctr" indent="0" marL="0">
              <a:buNone/>
            </a:pPr>
            <a:r>
              <a:rPr lang="en-US" sz="1100" dirty="0">
                <a:solidFill>
                  <a:schemeClr val="accent5"/>
                </a:solidFill>
              </a:rPr>
              <a:t>Share of valid claims per claim type (train)</a:t>
            </a:r>
            <a:endParaRPr lang="en-US" sz="1100" dirty="0"/>
          </a:p>
        </p:txBody>
      </p:sp>
      <p:sp>
        <p:nvSpPr>
          <p:cNvPr id="6" name="node-59"/>
          <p:cNvSpPr txBox="1"/>
          <p:nvPr/>
        </p:nvSpPr>
        <p:spPr>
          <a:xfrm>
            <a:off x="4983480" y="12344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60"/>
          <p:cNvSpPr txBox="1"/>
          <p:nvPr/>
        </p:nvSpPr>
        <p:spPr>
          <a:xfrm>
            <a:off x="5486400" y="1234440"/>
            <a:ext cx="3200400" cy="777240"/>
          </a:xfrm>
          <a:prstGeom prst="rect">
            <a:avLst/>
          </a:prstGeom>
          <a:noFill/>
          <a:ln/>
        </p:spPr>
        <p:txBody>
          <a:bodyPr wrap="square" lIns="0" tIns="0" rIns="0" bIns="0" rtlCol="0" anchor="t"/>
          <a:lstStyle/>
          <a:p>
            <a:pPr indent="0" marL="0">
              <a:buNone/>
            </a:pPr>
            <a:r>
              <a:rPr lang="en-US" sz="1400" b="1" dirty="0">
                <a:solidFill>
                  <a:schemeClr val="tx2"/>
                </a:solidFill>
              </a:rPr>
              <a:t>Few valid claims</a:t>
            </a:r>
            <a:endParaRPr lang="en-US" sz="1400" dirty="0"/>
          </a:p>
          <a:p>
            <a:pPr indent="0" marL="0">
              <a:buNone/>
            </a:pPr>
            <a:r>
              <a:rPr lang="en-US" sz="1200" dirty="0">
                <a:solidFill>
                  <a:schemeClr val="accent5"/>
                </a:solidFill>
              </a:rPr>
              <a:t>Accuracy misleads, so we report precision, recall and F1 and use class weights</a:t>
            </a:r>
            <a:endParaRPr lang="en-US" sz="1400" dirty="0"/>
          </a:p>
        </p:txBody>
      </p:sp>
      <p:sp>
        <p:nvSpPr>
          <p:cNvPr id="8" name="node-61"/>
          <p:cNvSpPr txBox="1"/>
          <p:nvPr/>
        </p:nvSpPr>
        <p:spPr>
          <a:xfrm>
            <a:off x="4983480" y="22860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62"/>
          <p:cNvSpPr txBox="1"/>
          <p:nvPr/>
        </p:nvSpPr>
        <p:spPr>
          <a:xfrm>
            <a:off x="5486400" y="2286000"/>
            <a:ext cx="3200400" cy="777240"/>
          </a:xfrm>
          <a:prstGeom prst="rect">
            <a:avLst/>
          </a:prstGeom>
          <a:noFill/>
          <a:ln/>
        </p:spPr>
        <p:txBody>
          <a:bodyPr wrap="square" lIns="0" tIns="0" rIns="0" bIns="0" rtlCol="0" anchor="t"/>
          <a:lstStyle/>
          <a:p>
            <a:pPr indent="0" marL="0">
              <a:buNone/>
            </a:pPr>
            <a:r>
              <a:rPr lang="en-US" sz="1400" b="1" dirty="0">
                <a:solidFill>
                  <a:schemeClr val="tx2"/>
                </a:solidFill>
              </a:rPr>
              <a:t>“Child” is never valid</a:t>
            </a:r>
            <a:endParaRPr lang="en-US" sz="1400" dirty="0"/>
          </a:p>
          <a:p>
            <a:pPr indent="0" marL="0">
              <a:buNone/>
            </a:pPr>
            <a:r>
              <a:rPr lang="en-US" sz="1200" dirty="0">
                <a:solidFill>
                  <a:schemeClr val="accent5"/>
                </a:solidFill>
              </a:rPr>
              <a:t>Its text reads like “parent”, so the template column leaks the label and is never a feature</a:t>
            </a:r>
            <a:endParaRPr lang="en-US" sz="1400" dirty="0"/>
          </a:p>
        </p:txBody>
      </p:sp>
      <p:sp>
        <p:nvSpPr>
          <p:cNvPr id="10" name="node-63"/>
          <p:cNvSpPr txBox="1"/>
          <p:nvPr/>
        </p:nvSpPr>
        <p:spPr>
          <a:xfrm>
            <a:off x="4983480" y="333756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1" name="text-64"/>
          <p:cNvSpPr txBox="1"/>
          <p:nvPr/>
        </p:nvSpPr>
        <p:spPr>
          <a:xfrm>
            <a:off x="5486400" y="3337560"/>
            <a:ext cx="3200400" cy="777240"/>
          </a:xfrm>
          <a:prstGeom prst="rect">
            <a:avLst/>
          </a:prstGeom>
          <a:noFill/>
          <a:ln/>
        </p:spPr>
        <p:txBody>
          <a:bodyPr wrap="square" lIns="0" tIns="0" rIns="0" bIns="0" rtlCol="0" anchor="t"/>
          <a:lstStyle/>
          <a:p>
            <a:pPr indent="0" marL="0">
              <a:buNone/>
            </a:pPr>
            <a:r>
              <a:rPr lang="en-US" sz="1400" b="1" dirty="0">
                <a:solidFill>
                  <a:schemeClr val="tx2"/>
                </a:solidFill>
              </a:rPr>
              <a:t>Premises repeat; train is 5–6 variables</a:t>
            </a:r>
            <a:endParaRPr lang="en-US" sz="1400" dirty="0"/>
          </a:p>
          <a:p>
            <a:pPr indent="0" marL="0">
              <a:buNone/>
            </a:pPr>
            <a:r>
              <a:rPr lang="en-US" sz="1200" dirty="0">
                <a:solidFill>
                  <a:schemeClr val="accent5"/>
                </a:solidFill>
              </a:rPr>
              <a:t>Up to 90 claims per premise, so splits, CV and bootstrap all group by premise</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02 · PARSER AND PC ALGORITHM · RAKSHITA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From text to a causal graph</a:t>
            </a:r>
            <a:endParaRPr lang="en-US" sz="2600" dirty="0"/>
          </a:p>
        </p:txBody>
      </p:sp>
      <p:sp>
        <p:nvSpPr>
          <p:cNvPr id="4" name="node-65"/>
          <p:cNvSpPr txBox="1"/>
          <p:nvPr/>
        </p:nvSpPr>
        <p:spPr>
          <a:xfrm>
            <a:off x="457200" y="12344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66"/>
          <p:cNvSpPr txBox="1"/>
          <p:nvPr/>
        </p:nvSpPr>
        <p:spPr>
          <a:xfrm>
            <a:off x="960120" y="1234440"/>
            <a:ext cx="2880360" cy="777240"/>
          </a:xfrm>
          <a:prstGeom prst="rect">
            <a:avLst/>
          </a:prstGeom>
          <a:noFill/>
          <a:ln/>
        </p:spPr>
        <p:txBody>
          <a:bodyPr wrap="square" lIns="0" tIns="0" rIns="0" bIns="0" rtlCol="0" anchor="t"/>
          <a:lstStyle/>
          <a:p>
            <a:pPr indent="0" marL="0">
              <a:buNone/>
            </a:pPr>
            <a:r>
              <a:rPr lang="en-US" sz="1400" b="1" dirty="0">
                <a:solidFill>
                  <a:schemeClr val="tx2"/>
                </a:solidFill>
              </a:rPr>
              <a:t>Regex parser</a:t>
            </a:r>
            <a:endParaRPr lang="en-US" sz="1400" dirty="0"/>
          </a:p>
          <a:p>
            <a:pPr indent="0" marL="0">
              <a:buNone/>
            </a:pPr>
            <a:r>
              <a:rPr lang="en-US" sz="1200" dirty="0">
                <a:solidFill>
                  <a:schemeClr val="accent5"/>
                </a:solidFill>
              </a:rPr>
              <a:t>Claim type and the two variables X, Y; templated text, so 0 parse failures</a:t>
            </a:r>
            <a:endParaRPr lang="en-US" sz="1400" dirty="0"/>
          </a:p>
        </p:txBody>
      </p:sp>
      <p:sp>
        <p:nvSpPr>
          <p:cNvPr id="6" name="node-67"/>
          <p:cNvSpPr txBox="1"/>
          <p:nvPr/>
        </p:nvSpPr>
        <p:spPr>
          <a:xfrm>
            <a:off x="457200" y="210312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text-68"/>
          <p:cNvSpPr txBox="1"/>
          <p:nvPr/>
        </p:nvSpPr>
        <p:spPr>
          <a:xfrm>
            <a:off x="960120" y="2103120"/>
            <a:ext cx="2880360" cy="777240"/>
          </a:xfrm>
          <a:prstGeom prst="rect">
            <a:avLst/>
          </a:prstGeom>
          <a:noFill/>
          <a:ln/>
        </p:spPr>
        <p:txBody>
          <a:bodyPr wrap="square" lIns="0" tIns="0" rIns="0" bIns="0" rtlCol="0" anchor="t"/>
          <a:lstStyle/>
          <a:p>
            <a:pPr indent="0" marL="0">
              <a:buNone/>
            </a:pPr>
            <a:r>
              <a:rPr lang="en-US" sz="1400" b="1" dirty="0">
                <a:solidFill>
                  <a:schemeClr val="tx2"/>
                </a:solidFill>
              </a:rPr>
              <a:t>Schema checks</a:t>
            </a:r>
            <a:endParaRPr lang="en-US" sz="1400" dirty="0"/>
          </a:p>
          <a:p>
            <a:pPr indent="0" marL="0">
              <a:buNone/>
            </a:pPr>
            <a:r>
              <a:rPr lang="en-US" sz="1200" dirty="0">
                <a:solidFill>
                  <a:schemeClr val="accent5"/>
                </a:solidFill>
              </a:rPr>
              <a:t>Only A–F, no self-loops, both variables in the premise</a:t>
            </a:r>
            <a:endParaRPr lang="en-US" sz="1400" dirty="0"/>
          </a:p>
        </p:txBody>
      </p:sp>
      <p:sp>
        <p:nvSpPr>
          <p:cNvPr id="8" name="node-69"/>
          <p:cNvSpPr txBox="1"/>
          <p:nvPr/>
        </p:nvSpPr>
        <p:spPr>
          <a:xfrm>
            <a:off x="457200" y="29718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text-70"/>
          <p:cNvSpPr txBox="1"/>
          <p:nvPr/>
        </p:nvSpPr>
        <p:spPr>
          <a:xfrm>
            <a:off x="960120" y="2971800"/>
            <a:ext cx="2880360" cy="777240"/>
          </a:xfrm>
          <a:prstGeom prst="rect">
            <a:avLst/>
          </a:prstGeom>
          <a:noFill/>
          <a:ln/>
        </p:spPr>
        <p:txBody>
          <a:bodyPr wrap="square" lIns="0" tIns="0" rIns="0" bIns="0" rtlCol="0" anchor="t"/>
          <a:lstStyle/>
          <a:p>
            <a:pPr indent="0" marL="0">
              <a:buNone/>
            </a:pPr>
            <a:r>
              <a:rPr lang="en-US" sz="1400" b="1" dirty="0">
                <a:solidFill>
                  <a:schemeClr val="tx2"/>
                </a:solidFill>
              </a:rPr>
              <a:t>PC algorithm</a:t>
            </a:r>
            <a:endParaRPr lang="en-US" sz="1400" dirty="0"/>
          </a:p>
          <a:p>
            <a:pPr indent="0" marL="0">
              <a:buNone/>
            </a:pPr>
            <a:r>
              <a:rPr lang="en-US" sz="1200" dirty="0">
                <a:solidFill>
                  <a:schemeClr val="accent5"/>
                </a:solidFill>
              </a:rPr>
              <a:t>pgmpy PC reads the premise's independences directly</a:t>
            </a:r>
            <a:endParaRPr lang="en-US" sz="1400" dirty="0"/>
          </a:p>
        </p:txBody>
      </p:sp>
      <p:sp>
        <p:nvSpPr>
          <p:cNvPr id="10" name="node-71"/>
          <p:cNvSpPr txBox="1"/>
          <p:nvPr/>
        </p:nvSpPr>
        <p:spPr>
          <a:xfrm>
            <a:off x="457200" y="384048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1" name="text-72"/>
          <p:cNvSpPr txBox="1"/>
          <p:nvPr/>
        </p:nvSpPr>
        <p:spPr>
          <a:xfrm>
            <a:off x="960120" y="3840480"/>
            <a:ext cx="2880360" cy="777240"/>
          </a:xfrm>
          <a:prstGeom prst="rect">
            <a:avLst/>
          </a:prstGeom>
          <a:noFill/>
          <a:ln/>
        </p:spPr>
        <p:txBody>
          <a:bodyPr wrap="square" lIns="0" tIns="0" rIns="0" bIns="0" rtlCol="0" anchor="t"/>
          <a:lstStyle/>
          <a:p>
            <a:pPr indent="0" marL="0">
              <a:buNone/>
            </a:pPr>
            <a:r>
              <a:rPr lang="en-US" sz="1400" b="1" dirty="0">
                <a:solidFill>
                  <a:schemeClr val="tx2"/>
                </a:solidFill>
              </a:rPr>
              <a:t>Equivalence class</a:t>
            </a:r>
            <a:endParaRPr lang="en-US" sz="1400" dirty="0"/>
          </a:p>
          <a:p>
            <a:pPr indent="0" marL="0">
              <a:buNone/>
            </a:pPr>
            <a:r>
              <a:rPr lang="en-US" sz="1200" dirty="0">
                <a:solidFill>
                  <a:schemeClr val="accent5"/>
                </a:solidFill>
              </a:rPr>
              <a:t>Try both directions of every undirected edge: 1 to 144 DAGs per premise</a:t>
            </a:r>
            <a:endParaRPr lang="en-US" sz="1400" dirty="0"/>
          </a:p>
        </p:txBody>
      </p:sp>
      <p:pic>
        <p:nvPicPr>
          <p:cNvPr id="12" name="figure-73" descr="Two PC graphs: solid arrows are known directions, dashed edges could point either way">    </p:cNvPr>
          <p:cNvPicPr>
            <a:picLocks noChangeAspect="1"/>
          </p:cNvPicPr>
          <p:nvPr/>
        </p:nvPicPr>
        <p:blipFill>
          <a:blip r:embed="rId1"/>
          <a:stretch>
            <a:fillRect/>
          </a:stretch>
        </p:blipFill>
        <p:spPr>
          <a:xfrm>
            <a:off x="4160520" y="1417320"/>
            <a:ext cx="4526280" cy="1984248"/>
          </a:xfrm>
          <a:prstGeom prst="rect">
            <a:avLst/>
          </a:prstGeom>
        </p:spPr>
      </p:pic>
      <p:sp>
        <p:nvSpPr>
          <p:cNvPr id="13" name="text-74"/>
          <p:cNvSpPr txBox="1"/>
          <p:nvPr/>
        </p:nvSpPr>
        <p:spPr>
          <a:xfrm>
            <a:off x="4160520" y="3611880"/>
            <a:ext cx="4526280" cy="320040"/>
          </a:xfrm>
          <a:prstGeom prst="rect">
            <a:avLst/>
          </a:prstGeom>
          <a:noFill/>
          <a:ln/>
        </p:spPr>
        <p:txBody>
          <a:bodyPr wrap="square" lIns="0" tIns="0" rIns="0" bIns="0" rtlCol="0" anchor="t"/>
          <a:lstStyle/>
          <a:p>
            <a:pPr algn="ctr" indent="0" marL="0">
              <a:buNone/>
            </a:pPr>
            <a:r>
              <a:rPr lang="en-US" sz="1400" b="1" dirty="0">
                <a:solidFill>
                  <a:schemeClr val="accent1"/>
                </a:solidFill>
              </a:rPr>
              <a:t>mec_support = share of fitting DAGs where the claim is true</a:t>
            </a:r>
            <a:endParaRPr lang="en-US" sz="1400" dirty="0"/>
          </a:p>
        </p:txBody>
      </p:sp>
      <p:sp>
        <p:nvSpPr>
          <p:cNvPr id="14" name="text-75"/>
          <p:cNvSpPr txBox="1"/>
          <p:nvPr/>
        </p:nvSpPr>
        <p:spPr>
          <a:xfrm>
            <a:off x="4160520" y="3977640"/>
            <a:ext cx="4526280" cy="320040"/>
          </a:xfrm>
          <a:prstGeom prst="rect">
            <a:avLst/>
          </a:prstGeom>
          <a:noFill/>
          <a:ln/>
        </p:spPr>
        <p:txBody>
          <a:bodyPr wrap="square" lIns="0" tIns="0" rIns="0" bIns="0" rtlCol="0" anchor="t"/>
          <a:lstStyle/>
          <a:p>
            <a:pPr algn="ctr" indent="0" marL="0">
              <a:buNone/>
            </a:pPr>
            <a:r>
              <a:rPr lang="en-US" sz="1200" dirty="0">
                <a:solidFill>
                  <a:schemeClr val="accent5"/>
                </a:solidFill>
              </a:rPr>
              <a:t>1 means true in every fitting graph, which is the definition of valid</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02 · PARSER AND PC ALGORITHM · RAKSHITA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Matching the dataset generator's definitions</a:t>
            </a:r>
            <a:endParaRPr lang="en-US" sz="2600" dirty="0"/>
          </a:p>
        </p:txBody>
      </p:sp>
      <p:graphicFrame>
        <p:nvGraphicFramePr>
          <p:cNvPr id="9" name="table-76"/>
          <p:cNvGraphicFramePr>
            <a:graphicFrameLocks noGrp="1"/>
          </p:cNvGraphicFramePr>
          <p:nvPr>
            <p:extLst>
              <p:ext uri="{D42A27DB-BD31-4B8C-83A1-F6EECF244321}">
                <p14:modId xmlns:p14="http://schemas.microsoft.com/office/powerpoint/2010/main" val="1579011935"/>
              </p:ext>
            </p:extLst>
          </p:nvPr>
        </p:nvGraphicFramePr>
        <p:xfrm>
          <a:off x="457200" y="1234440"/>
          <a:ext cx="4206240" cy="914400"/>
        </p:xfrm>
        <a:graphic>
          <a:graphicData uri="http://schemas.openxmlformats.org/drawingml/2006/table">
            <a:tbl>
              <a:tblPr/>
              <a:tblGrid>
                <a:gridCol w="2286000"/>
                <a:gridCol w="1920240"/>
              </a:tblGrid>
              <a:tr h="384048">
                <a:tc>
                  <a:txBody>
                    <a:bodyPr/>
                    <a:lstStyle/>
                    <a:p>
                      <a:pPr indent="0" marL="0">
                        <a:buNone/>
                      </a:pPr>
                      <a:r>
                        <a:rPr lang="en-US" sz="1200" b="1" dirty="0">
                          <a:solidFill>
                            <a:schemeClr val="bg1"/>
                          </a:solidFill>
                        </a:rPr>
                        <a:t>Claim</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Some path from X to Y</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Directly causes</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indent="0" marL="0">
                        <a:buNone/>
                      </a:pPr>
                      <a:r>
                        <a:rPr lang="en-US" sz="1200" dirty="0">
                          <a:solidFill>
                            <a:schemeClr val="tx1"/>
                          </a:solidFill>
                        </a:rPr>
                        <a:t>X → Y</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200" dirty="0">
                          <a:solidFill>
                            <a:schemeClr val="tx1"/>
                          </a:solidFill>
                        </a:rPr>
                        <a:t>Causes something else which causes</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indent="0" marL="0">
                        <a:buNone/>
                      </a:pPr>
                      <a:r>
                        <a:rPr lang="en-US" sz="1200" dirty="0">
                          <a:solidFill>
                            <a:schemeClr val="tx1"/>
                          </a:solidFill>
                        </a:rPr>
                        <a:t>X → … → Y, 2+ arrows</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200" dirty="0">
                          <a:solidFill>
                            <a:schemeClr val="tx1"/>
                          </a:solidFill>
                        </a:rPr>
                        <a:t>Collider (common effect)</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indent="0" marL="0">
                        <a:buNone/>
                      </a:pPr>
                      <a:r>
                        <a:rPr lang="en-US" sz="1200" dirty="0">
                          <a:solidFill>
                            <a:schemeClr val="tx1"/>
                          </a:solidFill>
                        </a:rPr>
                        <a:t>X → … → Z ← … ← Y</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200" dirty="0">
                          <a:solidFill>
                            <a:schemeClr val="tx1"/>
                          </a:solidFill>
                        </a:rPr>
                        <a:t>Confounder (common cause)</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indent="0" marL="0">
                        <a:buNone/>
                      </a:pPr>
                      <a:r>
                        <a:rPr lang="en-US" sz="1200" dirty="0">
                          <a:solidFill>
                            <a:schemeClr val="tx1"/>
                          </a:solidFill>
                        </a:rPr>
                        <a:t>X ← … ← Z → Y</a:t>
                      </a:r>
                      <a:endParaRPr lang="en-US" sz="12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bl>
          </a:graphicData>
        </a:graphic>
      </p:graphicFrame>
      <p:sp>
        <p:nvSpPr>
          <p:cNvPr id="5" name="text-77"/>
          <p:cNvSpPr txBox="1"/>
          <p:nvPr/>
        </p:nvSpPr>
        <p:spPr>
          <a:xfrm>
            <a:off x="457200" y="3337560"/>
            <a:ext cx="4206240" cy="731520"/>
          </a:xfrm>
          <a:prstGeom prst="rect">
            <a:avLst/>
          </a:prstGeom>
          <a:noFill/>
          <a:ln/>
        </p:spPr>
        <p:txBody>
          <a:bodyPr wrap="square" lIns="0" tIns="0" rIns="0" bIns="0" rtlCol="0" anchor="t"/>
          <a:lstStyle/>
          <a:p>
            <a:pPr indent="0" marL="0">
              <a:buNone/>
            </a:pPr>
            <a:r>
              <a:rPr lang="en-US" sz="1200" dirty="0">
                <a:solidFill>
                  <a:schemeClr val="accent5"/>
                </a:solidFill>
              </a:rPr>
              <a:t>Read from the authors' code (data_gen.cpp). Our first, textbook definitions disagreed on longer paths.</a:t>
            </a:r>
            <a:endParaRPr lang="en-US" sz="1200" dirty="0"/>
          </a:p>
        </p:txBody>
      </p:sp>
      <p:graphicFrame>
        <p:nvGraphicFramePr>
          <p:cNvPr id="6" name="chart-78" descr=""/>
          <p:cNvGraphicFramePr/>
          <p:nvPr/>
        </p:nvGraphicFramePr>
        <p:xfrm>
          <a:off x="4937760" y="1188720"/>
          <a:ext cx="3749040" cy="3291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03 · FEATURE ENGINEERING · DHANVIN VADLAMUDI</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Turning each claim into 256 numbers</a:t>
            </a:r>
            <a:endParaRPr lang="en-US" sz="2600" dirty="0"/>
          </a:p>
        </p:txBody>
      </p:sp>
      <p:sp>
        <p:nvSpPr>
          <p:cNvPr id="4" name="card-79"/>
          <p:cNvSpPr/>
          <p:nvPr/>
        </p:nvSpPr>
        <p:spPr>
          <a:xfrm>
            <a:off x="457200" y="1234440"/>
            <a:ext cx="4023360" cy="1005840"/>
          </a:xfrm>
          <a:prstGeom prst="roundRect">
            <a:avLst>
              <a:gd name="adj" fmla="val 7273"/>
            </a:avLst>
          </a:prstGeom>
          <a:solidFill>
            <a:schemeClr val="bg2"/>
          </a:solidFill>
          <a:ln w="12700">
            <a:solidFill>
              <a:schemeClr val="bg2"/>
            </a:solidFill>
            <a:prstDash val="solid"/>
          </a:ln>
        </p:spPr>
      </p:sp>
      <p:sp>
        <p:nvSpPr>
          <p:cNvPr id="5" name="text-80"/>
          <p:cNvSpPr txBox="1"/>
          <p:nvPr/>
        </p:nvSpPr>
        <p:spPr>
          <a:xfrm>
            <a:off x="640080" y="1353312"/>
            <a:ext cx="3657600" cy="822960"/>
          </a:xfrm>
          <a:prstGeom prst="rect">
            <a:avLst/>
          </a:prstGeom>
          <a:noFill/>
          <a:ln/>
        </p:spPr>
        <p:txBody>
          <a:bodyPr wrap="square" lIns="0" tIns="0" rIns="0" bIns="0" rtlCol="0" anchor="t"/>
          <a:lstStyle/>
          <a:p>
            <a:pPr indent="0" marL="0">
              <a:buNone/>
            </a:pPr>
            <a:r>
              <a:rPr lang="en-US" sz="1400" b="1" dirty="0">
                <a:solidFill>
                  <a:schemeClr val="accent2"/>
                </a:solidFill>
              </a:rPr>
              <a:t>Text: TF-IDF, 241 terms</a:t>
            </a:r>
            <a:endParaRPr lang="en-US" sz="1400" dirty="0"/>
          </a:p>
          <a:p>
            <a:pPr indent="0" marL="0">
              <a:buNone/>
            </a:pPr>
            <a:r>
              <a:rPr lang="en-US" sz="1300" dirty="0">
                <a:solidFill>
                  <a:schemeClr val="tx1"/>
                </a:solidFill>
              </a:rPr>
              <a:t>Premise and hypothesis, unigrams and bigrams, one-letter tokens kept for A–F, fitted on train only</a:t>
            </a:r>
            <a:endParaRPr lang="en-US" sz="1400" dirty="0"/>
          </a:p>
        </p:txBody>
      </p:sp>
      <p:sp>
        <p:nvSpPr>
          <p:cNvPr id="6" name="card-81"/>
          <p:cNvSpPr/>
          <p:nvPr/>
        </p:nvSpPr>
        <p:spPr>
          <a:xfrm>
            <a:off x="457200" y="2468880"/>
            <a:ext cx="4023360" cy="1783080"/>
          </a:xfrm>
          <a:prstGeom prst="roundRect">
            <a:avLst>
              <a:gd name="adj" fmla="val 4103"/>
            </a:avLst>
          </a:prstGeom>
          <a:solidFill>
            <a:schemeClr val="bg2"/>
          </a:solidFill>
          <a:ln w="12700">
            <a:solidFill>
              <a:schemeClr val="bg2"/>
            </a:solidFill>
            <a:prstDash val="solid"/>
          </a:ln>
        </p:spPr>
      </p:sp>
      <p:sp>
        <p:nvSpPr>
          <p:cNvPr id="7" name="text-82"/>
          <p:cNvSpPr txBox="1"/>
          <p:nvPr/>
        </p:nvSpPr>
        <p:spPr>
          <a:xfrm>
            <a:off x="640080" y="2587752"/>
            <a:ext cx="3657600" cy="1600200"/>
          </a:xfrm>
          <a:prstGeom prst="rect">
            <a:avLst/>
          </a:prstGeom>
          <a:noFill/>
          <a:ln/>
        </p:spPr>
        <p:txBody>
          <a:bodyPr wrap="square" lIns="0" tIns="0" rIns="0" bIns="0" rtlCol="0" anchor="t"/>
          <a:lstStyle/>
          <a:p>
            <a:pPr indent="0" marL="0">
              <a:buNone/>
            </a:pPr>
            <a:r>
              <a:rPr lang="en-US" sz="1400" b="1" dirty="0">
                <a:solidFill>
                  <a:schemeClr val="accent1"/>
                </a:solidFill>
              </a:rPr>
              <a:t>Structured: 15 features</a:t>
            </a:r>
            <a:endParaRPr lang="en-US" sz="1400" dirty="0"/>
          </a:p>
          <a:p>
            <a:pPr marL="152400" indent="-152400">
              <a:buSzPct val="100000"/>
              <a:buChar char="•"/>
            </a:pPr>
            <a:r>
              <a:rPr lang="en-US" sz="1300" dirty="0">
                <a:solidFill>
                  <a:schemeClr val="tx1"/>
                </a:solidFill>
              </a:rPr>
              <a:t>Claim type, one-hot</a:t>
            </a:r>
            <a:endParaRPr lang="en-US" sz="1400" dirty="0"/>
          </a:p>
          <a:p>
            <a:pPr marL="152400" indent="-152400">
              <a:buSzPct val="100000"/>
              <a:buChar char="•"/>
            </a:pPr>
            <a:r>
              <a:rPr lang="en-US" sz="1300" dirty="0">
                <a:solidFill>
                  <a:schemeClr val="tx1"/>
                </a:solidFill>
              </a:rPr>
              <a:t>What the premise says about X and Y</a:t>
            </a:r>
            <a:endParaRPr lang="en-US" sz="1400" dirty="0"/>
          </a:p>
          <a:p>
            <a:pPr marL="152400" indent="-152400">
              <a:buSzPct val="100000"/>
              <a:buChar char="•"/>
            </a:pPr>
            <a:r>
              <a:rPr lang="en-US" sz="1300" dirty="0">
                <a:solidFill>
                  <a:schemeClr val="tx1"/>
                </a:solidFill>
              </a:rPr>
              <a:t>PC edge direction X→Y, Y→X, undirected</a:t>
            </a:r>
            <a:endParaRPr lang="en-US" sz="1400" dirty="0"/>
          </a:p>
          <a:p>
            <a:pPr marL="152400" indent="-152400">
              <a:buSzPct val="100000"/>
              <a:buChar char="•"/>
            </a:pPr>
            <a:r>
              <a:rPr lang="en-US" sz="1300" dirty="0">
                <a:solidFill>
                  <a:schemeClr val="tx1"/>
                </a:solidFill>
              </a:rPr>
              <a:t>Log size of the equivalence class</a:t>
            </a:r>
            <a:endParaRPr lang="en-US" sz="1400" dirty="0"/>
          </a:p>
          <a:p>
            <a:pPr marL="152400" indent="-152400">
              <a:buSzPct val="100000"/>
              <a:buChar char="•"/>
            </a:pPr>
            <a:r>
              <a:rPr lang="en-US" sz="1300" dirty="0">
                <a:solidFill>
                  <a:schemeClr val="tx1"/>
                </a:solidFill>
              </a:rPr>
              <a:t>mec_support</a:t>
            </a:r>
            <a:endParaRPr lang="en-US" sz="1400" dirty="0"/>
          </a:p>
        </p:txBody>
      </p:sp>
      <p:pic>
        <p:nvPicPr>
          <p:cNvPr id="8" name="figure-83" descr="Bar chart: mutual information of each structured feature with the label; mec_support is highest">    </p:cNvPr>
          <p:cNvPicPr>
            <a:picLocks noChangeAspect="1"/>
          </p:cNvPicPr>
          <p:nvPr/>
        </p:nvPicPr>
        <p:blipFill>
          <a:blip r:embed="rId1"/>
          <a:stretch>
            <a:fillRect/>
          </a:stretch>
        </p:blipFill>
        <p:spPr>
          <a:xfrm>
            <a:off x="4800600" y="1234440"/>
            <a:ext cx="3886200" cy="2807208"/>
          </a:xfrm>
          <a:prstGeom prst="rect">
            <a:avLst/>
          </a:prstGeom>
        </p:spPr>
      </p:pic>
      <p:sp>
        <p:nvSpPr>
          <p:cNvPr id="9" name="text-84"/>
          <p:cNvSpPr txBox="1"/>
          <p:nvPr/>
        </p:nvSpPr>
        <p:spPr>
          <a:xfrm>
            <a:off x="4800600" y="4114800"/>
            <a:ext cx="3886200" cy="274320"/>
          </a:xfrm>
          <a:prstGeom prst="rect">
            <a:avLst/>
          </a:prstGeom>
          <a:noFill/>
          <a:ln/>
        </p:spPr>
        <p:txBody>
          <a:bodyPr wrap="square" lIns="0" tIns="0" rIns="0" bIns="0" rtlCol="0" anchor="t"/>
          <a:lstStyle/>
          <a:p>
            <a:pPr algn="ctr" indent="0" marL="0">
              <a:buNone/>
            </a:pPr>
            <a:r>
              <a:rPr lang="en-US" sz="1100" dirty="0">
                <a:solidFill>
                  <a:schemeClr val="accent5"/>
                </a:solidFill>
              </a:rPr>
              <a:t>Mutual information with the label (train)</a:t>
            </a:r>
            <a:endParaRPr lang="en-US" sz="11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03 · FEATURE ENGINEERING · DHANVIN VADLAMUDI</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Graph features, not words, carry the reasoning</a:t>
            </a:r>
            <a:endParaRPr lang="en-US" sz="2600" dirty="0"/>
          </a:p>
        </p:txBody>
      </p:sp>
      <p:graphicFrame>
        <p:nvGraphicFramePr>
          <p:cNvPr id="4" name="chart-85" descr=""/>
          <p:cNvGraphicFramePr/>
          <p:nvPr/>
        </p:nvGraphicFramePr>
        <p:xfrm>
          <a:off x="457200" y="1188720"/>
          <a:ext cx="4754880" cy="3337560"/>
        </p:xfrm>
        <a:graphic xmlns:a="http://schemas.openxmlformats.org/drawingml/2006/main">
          <a:graphicData uri="http://schemas.openxmlformats.org/drawingml/2006/chart">
            <c:chart xmlns:c="http://schemas.openxmlformats.org/drawingml/2006/chart" r:id="rId1"/>
          </a:graphicData>
        </a:graphic>
      </p:graphicFrame>
      <p:sp>
        <p:nvSpPr>
          <p:cNvPr id="5" name="node-86"/>
          <p:cNvSpPr txBox="1"/>
          <p:nvPr/>
        </p:nvSpPr>
        <p:spPr>
          <a:xfrm>
            <a:off x="5486400" y="12344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87"/>
          <p:cNvSpPr txBox="1"/>
          <p:nvPr/>
        </p:nvSpPr>
        <p:spPr>
          <a:xfrm>
            <a:off x="5989320" y="1234440"/>
            <a:ext cx="2697480" cy="777240"/>
          </a:xfrm>
          <a:prstGeom prst="rect">
            <a:avLst/>
          </a:prstGeom>
          <a:noFill/>
          <a:ln/>
        </p:spPr>
        <p:txBody>
          <a:bodyPr wrap="square" lIns="0" tIns="0" rIns="0" bIns="0" rtlCol="0" anchor="t"/>
          <a:lstStyle/>
          <a:p>
            <a:pPr indent="0" marL="0">
              <a:buNone/>
            </a:pPr>
            <a:r>
              <a:rPr lang="en-US" sz="1400" b="1" dirty="0">
                <a:solidFill>
                  <a:schemeClr val="tx2"/>
                </a:solidFill>
              </a:rPr>
              <a:t>TF-IDF fails</a:t>
            </a:r>
            <a:endParaRPr lang="en-US" sz="1400" dirty="0"/>
          </a:p>
          <a:p>
            <a:pPr indent="0" marL="0">
              <a:buNone/>
            </a:pPr>
            <a:r>
              <a:rPr lang="en-US" sz="1200" dirty="0">
                <a:solidFill>
                  <a:schemeClr val="accent5"/>
                </a:solidFill>
              </a:rPr>
              <a:t>Calls almost everything valid: recall 0.95, precision 0.31</a:t>
            </a:r>
            <a:endParaRPr lang="en-US" sz="1400" dirty="0"/>
          </a:p>
        </p:txBody>
      </p:sp>
      <p:sp>
        <p:nvSpPr>
          <p:cNvPr id="7" name="node-88"/>
          <p:cNvSpPr txBox="1"/>
          <p:nvPr/>
        </p:nvSpPr>
        <p:spPr>
          <a:xfrm>
            <a:off x="5486400" y="228600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8" name="text-89"/>
          <p:cNvSpPr txBox="1"/>
          <p:nvPr/>
        </p:nvSpPr>
        <p:spPr>
          <a:xfrm>
            <a:off x="5989320" y="2286000"/>
            <a:ext cx="2697480" cy="777240"/>
          </a:xfrm>
          <a:prstGeom prst="rect">
            <a:avLst/>
          </a:prstGeom>
          <a:noFill/>
          <a:ln/>
        </p:spPr>
        <p:txBody>
          <a:bodyPr wrap="square" lIns="0" tIns="0" rIns="0" bIns="0" rtlCol="0" anchor="t"/>
          <a:lstStyle/>
          <a:p>
            <a:pPr indent="0" marL="0">
              <a:buNone/>
            </a:pPr>
            <a:r>
              <a:rPr lang="en-US" sz="1400" b="1" dirty="0">
                <a:solidFill>
                  <a:schemeClr val="tx2"/>
                </a:solidFill>
              </a:rPr>
              <a:t>mec_support dominates</a:t>
            </a:r>
            <a:endParaRPr lang="en-US" sz="1400" dirty="0"/>
          </a:p>
          <a:p>
            <a:pPr indent="0" marL="0">
              <a:buNone/>
            </a:pPr>
            <a:r>
              <a:rPr lang="en-US" sz="1200" dirty="0">
                <a:solidFill>
                  <a:schemeClr val="accent5"/>
                </a:solidFill>
              </a:rPr>
              <a:t>LR weight +4.9 and 71% of Random Forest importance</a:t>
            </a:r>
            <a:endParaRPr lang="en-US" sz="1400" dirty="0"/>
          </a:p>
        </p:txBody>
      </p:sp>
      <p:sp>
        <p:nvSpPr>
          <p:cNvPr id="9" name="node-90"/>
          <p:cNvSpPr txBox="1"/>
          <p:nvPr/>
        </p:nvSpPr>
        <p:spPr>
          <a:xfrm>
            <a:off x="5486400" y="333756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0" name="text-91"/>
          <p:cNvSpPr txBox="1"/>
          <p:nvPr/>
        </p:nvSpPr>
        <p:spPr>
          <a:xfrm>
            <a:off x="5989320" y="3337560"/>
            <a:ext cx="2697480" cy="777240"/>
          </a:xfrm>
          <a:prstGeom prst="rect">
            <a:avLst/>
          </a:prstGeom>
          <a:noFill/>
          <a:ln/>
        </p:spPr>
        <p:txBody>
          <a:bodyPr wrap="square" lIns="0" tIns="0" rIns="0" bIns="0" rtlCol="0" anchor="t"/>
          <a:lstStyle/>
          <a:p>
            <a:pPr indent="0" marL="0">
              <a:buNone/>
            </a:pPr>
            <a:r>
              <a:rPr lang="en-US" sz="1400" b="1" dirty="0">
                <a:solidFill>
                  <a:schemeClr val="tx2"/>
                </a:solidFill>
              </a:rPr>
              <a:t>The rule still wins here</a:t>
            </a:r>
            <a:endParaRPr lang="en-US" sz="1400" dirty="0"/>
          </a:p>
          <a:p>
            <a:pPr indent="0" marL="0">
              <a:buNone/>
            </a:pPr>
            <a:r>
              <a:rPr lang="en-US" sz="1200" dirty="0">
                <a:solidFill>
                  <a:schemeClr val="accent5"/>
                </a:solidFill>
              </a:rPr>
              <a:t>A linear model can't copy the step at 1; tuned trees do (next)</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04 · MODELS AND EVALUATION · KASULA LALITHENDRA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Tuned with GroupKFold, chosen on validation</a:t>
            </a:r>
            <a:endParaRPr lang="en-US" sz="2600" dirty="0"/>
          </a:p>
        </p:txBody>
      </p:sp>
      <p:graphicFrame>
        <p:nvGraphicFramePr>
          <p:cNvPr id="12" name="table-92"/>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2011680"/>
                <a:gridCol w="777240"/>
                <a:gridCol w="777240"/>
                <a:gridCol w="777240"/>
                <a:gridCol w="777240"/>
              </a:tblGrid>
              <a:tr h="384048">
                <a:tc>
                  <a:txBody>
                    <a:bodyPr/>
                    <a:lstStyle/>
                    <a:p>
                      <a:pPr algn="l" indent="0" marL="0">
                        <a:buNone/>
                      </a:pPr>
                      <a:r>
                        <a:rPr lang="en-US" sz="1300" b="1" dirty="0">
                          <a:solidFill>
                            <a:schemeClr val="bg1"/>
                          </a:solidFill>
                        </a:rPr>
                        <a:t>Model</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Val F1</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Test P</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Test R</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c>
                  <a:txBody>
                    <a:bodyPr/>
                    <a:lstStyle/>
                    <a:p>
                      <a:pPr algn="r" indent="0" marL="0">
                        <a:buNone/>
                      </a:pPr>
                      <a:r>
                        <a:rPr lang="en-US" sz="1300" b="1" dirty="0">
                          <a:solidFill>
                            <a:schemeClr val="bg1"/>
                          </a:solidFill>
                        </a:rPr>
                        <a:t>Test F1</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solidFill>
                      <a:schemeClr val="tx2"/>
                    </a:solidFill>
                  </a:tcPr>
                </a:tc>
              </a:tr>
              <a:tr h="384048">
                <a:tc>
                  <a:txBody>
                    <a:bodyPr/>
                    <a:lstStyle/>
                    <a:p>
                      <a:pPr indent="0" marL="0">
                        <a:buNone/>
                      </a:pPr>
                      <a:r>
                        <a:rPr lang="en-US" sz="1300" dirty="0">
                          <a:solidFill>
                            <a:schemeClr val="tx1"/>
                          </a:solidFill>
                        </a:rPr>
                        <a:t>Logistic Regression</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0.878</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0.922</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0.983</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0.952</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300" b="1" dirty="0">
                          <a:solidFill>
                            <a:schemeClr val="accent1"/>
                          </a:solidFill>
                        </a:rPr>
                        <a:t>Random Forest (chosen)</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b="1" dirty="0">
                          <a:solidFill>
                            <a:schemeClr val="tx1"/>
                          </a:solidFill>
                        </a:rPr>
                        <a:t>0.929</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0.927</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0.989</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b="1" dirty="0">
                          <a:solidFill>
                            <a:schemeClr val="tx1"/>
                          </a:solidFill>
                        </a:rPr>
                        <a:t>0.957</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300" dirty="0">
                          <a:solidFill>
                            <a:schemeClr val="tx1"/>
                          </a:solidFill>
                        </a:rPr>
                        <a:t>Gradient Boosting</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0.879</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0.927</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0.989</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0.957</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r h="384048">
                <a:tc>
                  <a:txBody>
                    <a:bodyPr/>
                    <a:lstStyle/>
                    <a:p>
                      <a:pPr indent="0" marL="0">
                        <a:buNone/>
                      </a:pPr>
                      <a:r>
                        <a:rPr lang="en-US" sz="1300" i="1" dirty="0">
                          <a:solidFill>
                            <a:schemeClr val="accent5"/>
                          </a:solidFill>
                        </a:rPr>
                        <a:t>Rule, no learning</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0.906</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0.922</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0.983</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c>
                  <a:txBody>
                    <a:bodyPr/>
                    <a:lstStyle/>
                    <a:p>
                      <a:pPr algn="r" indent="0" marL="0">
                        <a:buNone/>
                      </a:pPr>
                      <a:r>
                        <a:rPr lang="en-US" sz="1300" dirty="0">
                          <a:solidFill>
                            <a:schemeClr val="tx1"/>
                          </a:solidFill>
                        </a:rPr>
                        <a:t>0.952</a:t>
                      </a:r>
                      <a:endParaRPr lang="en-US" sz="1300" dirty="0"/>
                    </a:p>
                  </a:txBody>
                  <a:tcPr marL="91440" marR="91440" marT="45720" marB="45720">
                    <a:lnL w="6350" cap="flat" cmpd="sng" algn="ctr">
                      <a:solidFill>
                        <a:srgbClr val="DDE2EA"/>
                      </a:solidFill>
                      <a:prstDash val="solid"/>
                      <a:round/>
                      <a:headEnd type="none" w="med" len="med"/>
                      <a:tailEnd type="none" w="med" len="med"/>
                    </a:lnL>
                    <a:lnR w="6350" cap="flat" cmpd="sng" algn="ctr">
                      <a:solidFill>
                        <a:srgbClr val="DDE2EA"/>
                      </a:solidFill>
                      <a:prstDash val="solid"/>
                      <a:round/>
                      <a:headEnd type="none" w="med" len="med"/>
                      <a:tailEnd type="none" w="med" len="med"/>
                    </a:lnR>
                    <a:lnT w="6350" cap="flat" cmpd="sng" algn="ctr">
                      <a:solidFill>
                        <a:srgbClr val="DDE2EA"/>
                      </a:solidFill>
                      <a:prstDash val="solid"/>
                      <a:round/>
                      <a:headEnd type="none" w="med" len="med"/>
                      <a:tailEnd type="none" w="med" len="med"/>
                    </a:lnT>
                    <a:lnB w="6350" cap="flat" cmpd="sng" algn="ctr">
                      <a:solidFill>
                        <a:srgbClr val="DDE2EA"/>
                      </a:solidFill>
                      <a:prstDash val="solid"/>
                      <a:round/>
                      <a:headEnd type="none" w="med" len="med"/>
                      <a:tailEnd type="none" w="med" len="med"/>
                    </a:lnB>
                  </a:tcPr>
                </a:tc>
              </a:tr>
            </a:tbl>
          </a:graphicData>
        </a:graphic>
      </p:graphicFrame>
      <p:sp>
        <p:nvSpPr>
          <p:cNvPr id="5" name="text-93"/>
          <p:cNvSpPr txBox="1"/>
          <p:nvPr/>
        </p:nvSpPr>
        <p:spPr>
          <a:xfrm>
            <a:off x="457200" y="3383280"/>
            <a:ext cx="5120640" cy="640080"/>
          </a:xfrm>
          <a:prstGeom prst="rect">
            <a:avLst/>
          </a:prstGeom>
          <a:noFill/>
          <a:ln/>
        </p:spPr>
        <p:txBody>
          <a:bodyPr wrap="square" lIns="0" tIns="0" rIns="0" bIns="0" rtlCol="0" anchor="t"/>
          <a:lstStyle/>
          <a:p>
            <a:pPr indent="0" marL="0">
              <a:buNone/>
            </a:pPr>
            <a:r>
              <a:rPr lang="en-US" sz="1200" dirty="0">
                <a:solidFill>
                  <a:schemeClr val="accent5"/>
                </a:solidFill>
              </a:rPr>
              <a:t>256 features: TF-IDF + structured. 5-fold GroupKFold keeps every premise in one fold. Test used once.</a:t>
            </a:r>
            <a:endParaRPr lang="en-US" sz="1200" dirty="0"/>
          </a:p>
        </p:txBody>
      </p:sp>
      <p:sp>
        <p:nvSpPr>
          <p:cNvPr id="6" name="card-94"/>
          <p:cNvSpPr/>
          <p:nvPr/>
        </p:nvSpPr>
        <p:spPr>
          <a:xfrm>
            <a:off x="5897880" y="1234440"/>
            <a:ext cx="2788920" cy="1508760"/>
          </a:xfrm>
          <a:prstGeom prst="roundRect">
            <a:avLst>
              <a:gd name="adj" fmla="val 4848"/>
            </a:avLst>
          </a:prstGeom>
          <a:solidFill>
            <a:schemeClr val="bg2"/>
          </a:solidFill>
          <a:ln w="12700">
            <a:solidFill>
              <a:schemeClr val="bg2"/>
            </a:solidFill>
            <a:prstDash val="solid"/>
          </a:ln>
        </p:spPr>
      </p:sp>
      <p:sp>
        <p:nvSpPr>
          <p:cNvPr id="7" name="text-95"/>
          <p:cNvSpPr txBox="1"/>
          <p:nvPr/>
        </p:nvSpPr>
        <p:spPr>
          <a:xfrm>
            <a:off x="6035040" y="1371600"/>
            <a:ext cx="2514600" cy="548640"/>
          </a:xfrm>
          <a:prstGeom prst="rect">
            <a:avLst/>
          </a:prstGeom>
          <a:noFill/>
          <a:ln/>
        </p:spPr>
        <p:txBody>
          <a:bodyPr wrap="square" lIns="0" tIns="0" rIns="0" bIns="0" rtlCol="0" anchor="ctr"/>
          <a:lstStyle/>
          <a:p>
            <a:pPr algn="ctr" indent="0" marL="0">
              <a:buNone/>
            </a:pPr>
            <a:r>
              <a:rPr lang="en-US" sz="2600" b="1" dirty="0">
                <a:solidFill>
                  <a:schemeClr val="accent1"/>
                </a:solidFill>
              </a:rPr>
              <a:t>0.921 – 0.982</a:t>
            </a:r>
            <a:endParaRPr lang="en-US" sz="2600" dirty="0"/>
          </a:p>
        </p:txBody>
      </p:sp>
      <p:sp>
        <p:nvSpPr>
          <p:cNvPr id="8" name="text-96"/>
          <p:cNvSpPr txBox="1"/>
          <p:nvPr/>
        </p:nvSpPr>
        <p:spPr>
          <a:xfrm>
            <a:off x="6035040" y="1965960"/>
            <a:ext cx="2514600" cy="640080"/>
          </a:xfrm>
          <a:prstGeom prst="rect">
            <a:avLst/>
          </a:prstGeom>
          <a:noFill/>
          <a:ln/>
        </p:spPr>
        <p:txBody>
          <a:bodyPr wrap="square" lIns="0" tIns="0" rIns="0" bIns="0" rtlCol="0" anchor="t"/>
          <a:lstStyle/>
          <a:p>
            <a:pPr algn="ctr" indent="0" marL="0">
              <a:buNone/>
            </a:pPr>
            <a:r>
              <a:rPr lang="en-US" sz="1200" dirty="0">
                <a:solidFill>
                  <a:schemeClr val="tx1"/>
                </a:solidFill>
              </a:rPr>
              <a:t>95% CI of test F1, bootstrap over whole premises</a:t>
            </a:r>
            <a:endParaRPr lang="en-US" sz="1200" dirty="0"/>
          </a:p>
        </p:txBody>
      </p:sp>
      <p:sp>
        <p:nvSpPr>
          <p:cNvPr id="9" name="card-97"/>
          <p:cNvSpPr/>
          <p:nvPr/>
        </p:nvSpPr>
        <p:spPr>
          <a:xfrm>
            <a:off x="5897880" y="2926080"/>
            <a:ext cx="2788920" cy="1234440"/>
          </a:xfrm>
          <a:prstGeom prst="roundRect">
            <a:avLst>
              <a:gd name="adj" fmla="val 5926"/>
            </a:avLst>
          </a:prstGeom>
          <a:solidFill>
            <a:schemeClr val="bg2"/>
          </a:solidFill>
          <a:ln w="12700">
            <a:solidFill>
              <a:schemeClr val="bg2"/>
            </a:solidFill>
            <a:prstDash val="solid"/>
          </a:ln>
        </p:spPr>
      </p:sp>
      <p:sp>
        <p:nvSpPr>
          <p:cNvPr id="10" name="text-98"/>
          <p:cNvSpPr txBox="1"/>
          <p:nvPr/>
        </p:nvSpPr>
        <p:spPr>
          <a:xfrm>
            <a:off x="6035040" y="3044952"/>
            <a:ext cx="2514600" cy="1051560"/>
          </a:xfrm>
          <a:prstGeom prst="rect">
            <a:avLst/>
          </a:prstGeom>
          <a:noFill/>
          <a:ln/>
        </p:spPr>
        <p:txBody>
          <a:bodyPr wrap="square" lIns="0" tIns="0" rIns="0" bIns="0" rtlCol="0" anchor="t"/>
          <a:lstStyle/>
          <a:p>
            <a:pPr indent="0" marL="0">
              <a:buNone/>
            </a:pPr>
            <a:r>
              <a:rPr lang="en-US" sz="1400" b="1" dirty="0">
                <a:solidFill>
                  <a:schemeClr val="accent2"/>
                </a:solidFill>
              </a:rPr>
              <a:t>Honest reading</a:t>
            </a:r>
            <a:endParaRPr lang="en-US" sz="1400" dirty="0"/>
          </a:p>
          <a:p>
            <a:pPr indent="0" marL="0">
              <a:buNone/>
            </a:pPr>
            <a:r>
              <a:rPr lang="en-US" sz="1200" dirty="0">
                <a:solidFill>
                  <a:schemeClr val="tx1"/>
                </a:solidFill>
              </a:rPr>
              <a:t>The model beats the rule by 0.005, inside the CI. The symbolic step does most of the work.</a:t>
            </a:r>
            <a:endParaRPr lang="en-US" sz="14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04 · MODELS AND EVALUATION · KASULA LALITHENDRA</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Only 16 mistakes in 1,162 test claims</a:t>
            </a:r>
            <a:endParaRPr lang="en-US" sz="2600" dirty="0"/>
          </a:p>
        </p:txBody>
      </p:sp>
      <p:pic>
        <p:nvPicPr>
          <p:cNvPr id="4" name="figure-99" descr="Confusion matrix of the Random Forest on test: 968, 14, 2, 178">    </p:cNvPr>
          <p:cNvPicPr>
            <a:picLocks noChangeAspect="1"/>
          </p:cNvPicPr>
          <p:nvPr/>
        </p:nvPicPr>
        <p:blipFill>
          <a:blip r:embed="rId1"/>
          <a:stretch>
            <a:fillRect/>
          </a:stretch>
        </p:blipFill>
        <p:spPr>
          <a:xfrm>
            <a:off x="457200" y="1188720"/>
            <a:ext cx="3337560" cy="3255264"/>
          </a:xfrm>
          <a:prstGeom prst="rect">
            <a:avLst/>
          </a:prstGeom>
        </p:spPr>
      </p:pic>
      <p:sp>
        <p:nvSpPr>
          <p:cNvPr id="5" name="card-100"/>
          <p:cNvSpPr/>
          <p:nvPr/>
        </p:nvSpPr>
        <p:spPr>
          <a:xfrm>
            <a:off x="4160520" y="1234440"/>
            <a:ext cx="2103120" cy="914400"/>
          </a:xfrm>
          <a:prstGeom prst="roundRect">
            <a:avLst>
              <a:gd name="adj" fmla="val 8000"/>
            </a:avLst>
          </a:prstGeom>
          <a:solidFill>
            <a:schemeClr val="bg2"/>
          </a:solidFill>
          <a:ln w="12700">
            <a:solidFill>
              <a:schemeClr val="bg2"/>
            </a:solidFill>
            <a:prstDash val="solid"/>
          </a:ln>
        </p:spPr>
      </p:sp>
      <p:sp>
        <p:nvSpPr>
          <p:cNvPr id="6" name="text-101"/>
          <p:cNvSpPr txBox="1"/>
          <p:nvPr/>
        </p:nvSpPr>
        <p:spPr>
          <a:xfrm>
            <a:off x="4297680" y="1325880"/>
            <a:ext cx="731520" cy="731520"/>
          </a:xfrm>
          <a:prstGeom prst="rect">
            <a:avLst/>
          </a:prstGeom>
          <a:noFill/>
          <a:ln/>
        </p:spPr>
        <p:txBody>
          <a:bodyPr wrap="square" lIns="0" tIns="0" rIns="0" bIns="0" rtlCol="0" anchor="ctr"/>
          <a:lstStyle/>
          <a:p>
            <a:pPr indent="0" marL="0">
              <a:buNone/>
            </a:pPr>
            <a:r>
              <a:rPr lang="en-US" sz="2600" b="1" dirty="0">
                <a:solidFill>
                  <a:schemeClr val="accent2"/>
                </a:solidFill>
              </a:rPr>
              <a:t>968</a:t>
            </a:r>
            <a:endParaRPr lang="en-US" sz="2600" dirty="0"/>
          </a:p>
        </p:txBody>
      </p:sp>
      <p:sp>
        <p:nvSpPr>
          <p:cNvPr id="7" name="text-102"/>
          <p:cNvSpPr txBox="1"/>
          <p:nvPr/>
        </p:nvSpPr>
        <p:spPr>
          <a:xfrm>
            <a:off x="5029200" y="1325880"/>
            <a:ext cx="1188720" cy="731520"/>
          </a:xfrm>
          <a:prstGeom prst="rect">
            <a:avLst/>
          </a:prstGeom>
          <a:noFill/>
          <a:ln/>
        </p:spPr>
        <p:txBody>
          <a:bodyPr wrap="square" lIns="0" tIns="0" rIns="0" bIns="0" rtlCol="0" anchor="ctr"/>
          <a:lstStyle/>
          <a:p>
            <a:pPr indent="0" marL="0">
              <a:buNone/>
            </a:pPr>
            <a:r>
              <a:rPr lang="en-US" sz="1200" dirty="0">
                <a:solidFill>
                  <a:schemeClr val="tx1"/>
                </a:solidFill>
              </a:rPr>
              <a:t>correctly invalid</a:t>
            </a:r>
            <a:endParaRPr lang="en-US" sz="1200" dirty="0"/>
          </a:p>
        </p:txBody>
      </p:sp>
      <p:sp>
        <p:nvSpPr>
          <p:cNvPr id="8" name="card-103"/>
          <p:cNvSpPr/>
          <p:nvPr/>
        </p:nvSpPr>
        <p:spPr>
          <a:xfrm>
            <a:off x="6446520" y="1234440"/>
            <a:ext cx="2103120" cy="914400"/>
          </a:xfrm>
          <a:prstGeom prst="roundRect">
            <a:avLst>
              <a:gd name="adj" fmla="val 8000"/>
            </a:avLst>
          </a:prstGeom>
          <a:solidFill>
            <a:schemeClr val="bg2"/>
          </a:solidFill>
          <a:ln w="12700">
            <a:solidFill>
              <a:schemeClr val="bg2"/>
            </a:solidFill>
            <a:prstDash val="solid"/>
          </a:ln>
        </p:spPr>
      </p:sp>
      <p:sp>
        <p:nvSpPr>
          <p:cNvPr id="9" name="text-104"/>
          <p:cNvSpPr txBox="1"/>
          <p:nvPr/>
        </p:nvSpPr>
        <p:spPr>
          <a:xfrm>
            <a:off x="6583680" y="1325880"/>
            <a:ext cx="731520" cy="731520"/>
          </a:xfrm>
          <a:prstGeom prst="rect">
            <a:avLst/>
          </a:prstGeom>
          <a:noFill/>
          <a:ln/>
        </p:spPr>
        <p:txBody>
          <a:bodyPr wrap="square" lIns="0" tIns="0" rIns="0" bIns="0" rtlCol="0" anchor="ctr"/>
          <a:lstStyle/>
          <a:p>
            <a:pPr indent="0" marL="0">
              <a:buNone/>
            </a:pPr>
            <a:r>
              <a:rPr lang="en-US" sz="2600" b="1" dirty="0">
                <a:solidFill>
                  <a:schemeClr val="accent2"/>
                </a:solidFill>
              </a:rPr>
              <a:t>178</a:t>
            </a:r>
            <a:endParaRPr lang="en-US" sz="2600" dirty="0"/>
          </a:p>
        </p:txBody>
      </p:sp>
      <p:sp>
        <p:nvSpPr>
          <p:cNvPr id="10" name="text-105"/>
          <p:cNvSpPr txBox="1"/>
          <p:nvPr/>
        </p:nvSpPr>
        <p:spPr>
          <a:xfrm>
            <a:off x="7315200" y="1325880"/>
            <a:ext cx="1188720" cy="731520"/>
          </a:xfrm>
          <a:prstGeom prst="rect">
            <a:avLst/>
          </a:prstGeom>
          <a:noFill/>
          <a:ln/>
        </p:spPr>
        <p:txBody>
          <a:bodyPr wrap="square" lIns="0" tIns="0" rIns="0" bIns="0" rtlCol="0" anchor="ctr"/>
          <a:lstStyle/>
          <a:p>
            <a:pPr indent="0" marL="0">
              <a:buNone/>
            </a:pPr>
            <a:r>
              <a:rPr lang="en-US" sz="1200" dirty="0">
                <a:solidFill>
                  <a:schemeClr val="tx1"/>
                </a:solidFill>
              </a:rPr>
              <a:t>correctly valid</a:t>
            </a:r>
            <a:endParaRPr lang="en-US" sz="1200" dirty="0"/>
          </a:p>
        </p:txBody>
      </p:sp>
      <p:sp>
        <p:nvSpPr>
          <p:cNvPr id="11" name="card-106"/>
          <p:cNvSpPr/>
          <p:nvPr/>
        </p:nvSpPr>
        <p:spPr>
          <a:xfrm>
            <a:off x="4160520" y="2331720"/>
            <a:ext cx="2103120" cy="914400"/>
          </a:xfrm>
          <a:prstGeom prst="roundRect">
            <a:avLst>
              <a:gd name="adj" fmla="val 8000"/>
            </a:avLst>
          </a:prstGeom>
          <a:solidFill>
            <a:schemeClr val="bg2"/>
          </a:solidFill>
          <a:ln w="12700">
            <a:solidFill>
              <a:schemeClr val="bg2"/>
            </a:solidFill>
            <a:prstDash val="solid"/>
          </a:ln>
        </p:spPr>
      </p:sp>
      <p:sp>
        <p:nvSpPr>
          <p:cNvPr id="12" name="text-107"/>
          <p:cNvSpPr txBox="1"/>
          <p:nvPr/>
        </p:nvSpPr>
        <p:spPr>
          <a:xfrm>
            <a:off x="4297680" y="2423160"/>
            <a:ext cx="731520" cy="731520"/>
          </a:xfrm>
          <a:prstGeom prst="rect">
            <a:avLst/>
          </a:prstGeom>
          <a:noFill/>
          <a:ln/>
        </p:spPr>
        <p:txBody>
          <a:bodyPr wrap="square" lIns="0" tIns="0" rIns="0" bIns="0" rtlCol="0" anchor="ctr"/>
          <a:lstStyle/>
          <a:p>
            <a:pPr indent="0" marL="0">
              <a:buNone/>
            </a:pPr>
            <a:r>
              <a:rPr lang="en-US" sz="2600" b="1" dirty="0">
                <a:solidFill>
                  <a:schemeClr val="accent4"/>
                </a:solidFill>
              </a:rPr>
              <a:t>14</a:t>
            </a:r>
            <a:endParaRPr lang="en-US" sz="2600" dirty="0"/>
          </a:p>
        </p:txBody>
      </p:sp>
      <p:sp>
        <p:nvSpPr>
          <p:cNvPr id="13" name="text-108"/>
          <p:cNvSpPr txBox="1"/>
          <p:nvPr/>
        </p:nvSpPr>
        <p:spPr>
          <a:xfrm>
            <a:off x="5029200" y="2423160"/>
            <a:ext cx="1188720" cy="731520"/>
          </a:xfrm>
          <a:prstGeom prst="rect">
            <a:avLst/>
          </a:prstGeom>
          <a:noFill/>
          <a:ln/>
        </p:spPr>
        <p:txBody>
          <a:bodyPr wrap="square" lIns="0" tIns="0" rIns="0" bIns="0" rtlCol="0" anchor="ctr"/>
          <a:lstStyle/>
          <a:p>
            <a:pPr indent="0" marL="0">
              <a:buNone/>
            </a:pPr>
            <a:r>
              <a:rPr lang="en-US" sz="1200" dirty="0">
                <a:solidFill>
                  <a:schemeClr val="tx1"/>
                </a:solidFill>
              </a:rPr>
              <a:t>false alarms</a:t>
            </a:r>
            <a:endParaRPr lang="en-US" sz="1200" dirty="0"/>
          </a:p>
        </p:txBody>
      </p:sp>
      <p:sp>
        <p:nvSpPr>
          <p:cNvPr id="14" name="card-109"/>
          <p:cNvSpPr/>
          <p:nvPr/>
        </p:nvSpPr>
        <p:spPr>
          <a:xfrm>
            <a:off x="6446520" y="2331720"/>
            <a:ext cx="2103120" cy="914400"/>
          </a:xfrm>
          <a:prstGeom prst="roundRect">
            <a:avLst>
              <a:gd name="adj" fmla="val 8000"/>
            </a:avLst>
          </a:prstGeom>
          <a:solidFill>
            <a:schemeClr val="bg2"/>
          </a:solidFill>
          <a:ln w="12700">
            <a:solidFill>
              <a:schemeClr val="bg2"/>
            </a:solidFill>
            <a:prstDash val="solid"/>
          </a:ln>
        </p:spPr>
      </p:sp>
      <p:sp>
        <p:nvSpPr>
          <p:cNvPr id="15" name="text-110"/>
          <p:cNvSpPr txBox="1"/>
          <p:nvPr/>
        </p:nvSpPr>
        <p:spPr>
          <a:xfrm>
            <a:off x="6583680" y="2423160"/>
            <a:ext cx="731520" cy="731520"/>
          </a:xfrm>
          <a:prstGeom prst="rect">
            <a:avLst/>
          </a:prstGeom>
          <a:noFill/>
          <a:ln/>
        </p:spPr>
        <p:txBody>
          <a:bodyPr wrap="square" lIns="0" tIns="0" rIns="0" bIns="0" rtlCol="0" anchor="ctr"/>
          <a:lstStyle/>
          <a:p>
            <a:pPr indent="0" marL="0">
              <a:buNone/>
            </a:pPr>
            <a:r>
              <a:rPr lang="en-US" sz="2600" b="1" dirty="0">
                <a:solidFill>
                  <a:schemeClr val="accent4"/>
                </a:solidFill>
              </a:rPr>
              <a:t>2</a:t>
            </a:r>
            <a:endParaRPr lang="en-US" sz="2600" dirty="0"/>
          </a:p>
        </p:txBody>
      </p:sp>
      <p:sp>
        <p:nvSpPr>
          <p:cNvPr id="16" name="text-111"/>
          <p:cNvSpPr txBox="1"/>
          <p:nvPr/>
        </p:nvSpPr>
        <p:spPr>
          <a:xfrm>
            <a:off x="7315200" y="2423160"/>
            <a:ext cx="1188720" cy="731520"/>
          </a:xfrm>
          <a:prstGeom prst="rect">
            <a:avLst/>
          </a:prstGeom>
          <a:noFill/>
          <a:ln/>
        </p:spPr>
        <p:txBody>
          <a:bodyPr wrap="square" lIns="0" tIns="0" rIns="0" bIns="0" rtlCol="0" anchor="ctr"/>
          <a:lstStyle/>
          <a:p>
            <a:pPr indent="0" marL="0">
              <a:buNone/>
            </a:pPr>
            <a:r>
              <a:rPr lang="en-US" sz="1200" dirty="0">
                <a:solidFill>
                  <a:schemeClr val="tx1"/>
                </a:solidFill>
              </a:rPr>
              <a:t>missed valid</a:t>
            </a:r>
            <a:endParaRPr lang="en-US" sz="1200" dirty="0"/>
          </a:p>
        </p:txBody>
      </p:sp>
      <p:sp>
        <p:nvSpPr>
          <p:cNvPr id="17" name="bullets-112"/>
          <p:cNvSpPr txBox="1"/>
          <p:nvPr/>
        </p:nvSpPr>
        <p:spPr>
          <a:xfrm>
            <a:off x="4160520" y="3520440"/>
            <a:ext cx="4526280" cy="10972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8 of 16 mistakes are “parent” false alarms, the label disagreements found in step 02</a:t>
            </a:r>
            <a:endParaRPr lang="en-US" sz="1300" dirty="0"/>
          </a:p>
          <a:p>
            <a:pPr marL="177800" indent="-177800">
              <a:spcAft>
                <a:spcPts val="600"/>
              </a:spcAft>
              <a:buSzPct val="100000"/>
              <a:buChar char="•"/>
            </a:pPr>
            <a:r>
              <a:rPr lang="en-US" sz="1300" dirty="0">
                <a:solidFill>
                  <a:schemeClr val="tx1"/>
                </a:solidFill>
              </a:rPr>
              <a:t>Graphs with 2–4 variables, never seen in training: 1 mistake in 126 rows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05 · DAG AND BAYESIAN NETWORK · JAGRUTHI PULUMATI</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From predicted claims to a valid DAG</a:t>
            </a:r>
            <a:endParaRPr lang="en-US" sz="2600" dirty="0"/>
          </a:p>
        </p:txBody>
      </p:sp>
      <p:sp>
        <p:nvSpPr>
          <p:cNvPr id="4" name="node-113"/>
          <p:cNvSpPr txBox="1"/>
          <p:nvPr/>
        </p:nvSpPr>
        <p:spPr>
          <a:xfrm>
            <a:off x="457200" y="12344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5" name="text-114"/>
          <p:cNvSpPr txBox="1"/>
          <p:nvPr/>
        </p:nvSpPr>
        <p:spPr>
          <a:xfrm>
            <a:off x="960120" y="1234440"/>
            <a:ext cx="2971800" cy="777240"/>
          </a:xfrm>
          <a:prstGeom prst="rect">
            <a:avLst/>
          </a:prstGeom>
          <a:noFill/>
          <a:ln/>
        </p:spPr>
        <p:txBody>
          <a:bodyPr wrap="square" lIns="0" tIns="0" rIns="0" bIns="0" rtlCol="0" anchor="t"/>
          <a:lstStyle/>
          <a:p>
            <a:pPr indent="0" marL="0">
              <a:buNone/>
            </a:pPr>
            <a:r>
              <a:rPr lang="en-US" sz="1400" b="1" dirty="0">
                <a:solidFill>
                  <a:schemeClr val="tx2"/>
                </a:solidFill>
              </a:rPr>
              <a:t>Most confident first</a:t>
            </a:r>
            <a:endParaRPr lang="en-US" sz="1400" dirty="0"/>
          </a:p>
          <a:p>
            <a:pPr indent="0" marL="0">
              <a:buNone/>
            </a:pPr>
            <a:r>
              <a:rPr lang="en-US" sz="1200" dirty="0">
                <a:solidFill>
                  <a:schemeClr val="accent5"/>
                </a:solidFill>
              </a:rPr>
              <a:t>Every “X directly causes Y” predicted valid becomes an arrow</a:t>
            </a:r>
            <a:endParaRPr lang="en-US" sz="1400" dirty="0"/>
          </a:p>
        </p:txBody>
      </p:sp>
      <p:sp>
        <p:nvSpPr>
          <p:cNvPr id="6" name="node-115"/>
          <p:cNvSpPr txBox="1"/>
          <p:nvPr/>
        </p:nvSpPr>
        <p:spPr>
          <a:xfrm>
            <a:off x="457200" y="21488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7" name="text-116"/>
          <p:cNvSpPr txBox="1"/>
          <p:nvPr/>
        </p:nvSpPr>
        <p:spPr>
          <a:xfrm>
            <a:off x="960120" y="2148840"/>
            <a:ext cx="2971800" cy="777240"/>
          </a:xfrm>
          <a:prstGeom prst="rect">
            <a:avLst/>
          </a:prstGeom>
          <a:noFill/>
          <a:ln/>
        </p:spPr>
        <p:txBody>
          <a:bodyPr wrap="square" lIns="0" tIns="0" rIns="0" bIns="0" rtlCol="0" anchor="t"/>
          <a:lstStyle/>
          <a:p>
            <a:pPr indent="0" marL="0">
              <a:buNone/>
            </a:pPr>
            <a:r>
              <a:rPr lang="en-US" sz="1400" b="1" dirty="0">
                <a:solidFill>
                  <a:schemeClr val="tx2"/>
                </a:solidFill>
              </a:rPr>
              <a:t>Safety rules</a:t>
            </a:r>
            <a:endParaRPr lang="en-US" sz="1400" dirty="0"/>
          </a:p>
          <a:p>
            <a:pPr indent="0" marL="0">
              <a:buNone/>
            </a:pPr>
            <a:r>
              <a:rPr lang="en-US" sz="1200" dirty="0">
                <a:solidFill>
                  <a:schemeClr val="accent5"/>
                </a:solidFill>
              </a:rPr>
              <a:t>Skip self-loops, unknown variables and any arrow that closes a cycle</a:t>
            </a:r>
            <a:endParaRPr lang="en-US" sz="1400" dirty="0"/>
          </a:p>
        </p:txBody>
      </p:sp>
      <p:sp>
        <p:nvSpPr>
          <p:cNvPr id="8" name="node-117"/>
          <p:cNvSpPr txBox="1"/>
          <p:nvPr/>
        </p:nvSpPr>
        <p:spPr>
          <a:xfrm>
            <a:off x="457200" y="3063240"/>
            <a:ext cx="365760" cy="36576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9" name="text-118"/>
          <p:cNvSpPr txBox="1"/>
          <p:nvPr/>
        </p:nvSpPr>
        <p:spPr>
          <a:xfrm>
            <a:off x="960120" y="3063240"/>
            <a:ext cx="2971800" cy="777240"/>
          </a:xfrm>
          <a:prstGeom prst="rect">
            <a:avLst/>
          </a:prstGeom>
          <a:noFill/>
          <a:ln/>
        </p:spPr>
        <p:txBody>
          <a:bodyPr wrap="square" lIns="0" tIns="0" rIns="0" bIns="0" rtlCol="0" anchor="t"/>
          <a:lstStyle/>
          <a:p>
            <a:pPr indent="0" marL="0">
              <a:buNone/>
            </a:pPr>
            <a:r>
              <a:rPr lang="en-US" sz="1400" b="1" dirty="0">
                <a:solidFill>
                  <a:schemeClr val="tx2"/>
                </a:solidFill>
              </a:rPr>
              <a:t>All 21 test graphs are DAGs</a:t>
            </a:r>
            <a:endParaRPr lang="en-US" sz="1400" dirty="0"/>
          </a:p>
          <a:p>
            <a:pPr indent="0" marL="0">
              <a:buNone/>
            </a:pPr>
            <a:r>
              <a:rPr lang="en-US" sz="1200" dirty="0">
                <a:solidFill>
                  <a:schemeClr val="accent5"/>
                </a:solidFill>
              </a:rPr>
              <a:t>Edge precision 0.89 (65 of 73), recall 1.00</a:t>
            </a:r>
            <a:endParaRPr lang="en-US" sz="1400" dirty="0"/>
          </a:p>
        </p:txBody>
      </p:sp>
      <p:pic>
        <p:nvPicPr>
          <p:cNvPr id="10" name="figure-119" descr="True edges next to our predicted DAG; two red arrows are extra">    </p:cNvPr>
          <p:cNvPicPr>
            <a:picLocks noChangeAspect="1"/>
          </p:cNvPicPr>
          <p:nvPr/>
        </p:nvPicPr>
        <p:blipFill>
          <a:blip r:embed="rId1"/>
          <a:stretch>
            <a:fillRect/>
          </a:stretch>
        </p:blipFill>
        <p:spPr>
          <a:xfrm>
            <a:off x="4251960" y="1280160"/>
            <a:ext cx="4434840" cy="2157984"/>
          </a:xfrm>
          <a:prstGeom prst="rect">
            <a:avLst/>
          </a:prstGeom>
        </p:spPr>
      </p:pic>
      <p:sp>
        <p:nvSpPr>
          <p:cNvPr id="11" name="text-120"/>
          <p:cNvSpPr txBox="1"/>
          <p:nvPr/>
        </p:nvSpPr>
        <p:spPr>
          <a:xfrm>
            <a:off x="4251960" y="3566160"/>
            <a:ext cx="4434840" cy="548640"/>
          </a:xfrm>
          <a:prstGeom prst="rect">
            <a:avLst/>
          </a:prstGeom>
          <a:noFill/>
          <a:ln/>
        </p:spPr>
        <p:txBody>
          <a:bodyPr wrap="square" lIns="0" tIns="0" rIns="0" bIns="0" rtlCol="0" anchor="t"/>
          <a:lstStyle/>
          <a:p>
            <a:pPr algn="ctr" indent="0" marL="0">
              <a:buNone/>
            </a:pPr>
            <a:r>
              <a:rPr lang="en-US" sz="1200" dirty="0">
                <a:solidFill>
                  <a:schemeClr val="accent5"/>
                </a:solidFill>
              </a:rPr>
              <a:t>Red arrows: drawn by us and supported by PC, but labelled not valid in the dataset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58368" y="128016"/>
            <a:ext cx="7315200" cy="274320"/>
          </a:xfrm>
          <a:prstGeom prst="rect">
            <a:avLst/>
          </a:prstGeom>
          <a:noFill/>
          <a:ln/>
        </p:spPr>
        <p:txBody>
          <a:bodyPr wrap="square" lIns="0" tIns="0" rIns="0" bIns="0" rtlCol="0" anchor="ctr"/>
          <a:lstStyle/>
          <a:p>
            <a:pPr indent="0" marL="0">
              <a:buNone/>
            </a:pPr>
            <a:r>
              <a:rPr lang="en-US" sz="1100" b="1" dirty="0">
                <a:solidFill>
                  <a:schemeClr val="accent1"/>
                </a:solidFill>
              </a:rPr>
              <a:t>05 · DAG AND BAYESIAN NETWORK · JAGRUTHI PULUMATI</a:t>
            </a:r>
            <a:endParaRPr lang="en-US" sz="1100" dirty="0"/>
          </a:p>
        </p:txBody>
      </p:sp>
      <p:sp>
        <p:nvSpPr>
          <p:cNvPr id="3" name="Text 1"/>
          <p:cNvSpPr/>
          <p:nvPr>
            <p:ph idx="102" type="title" hasCustomPrompt="1"/>
          </p:nvPr>
        </p:nvSpPr>
        <p:spPr>
          <a:xfrm>
            <a:off x="457200" y="411480"/>
            <a:ext cx="8229600" cy="548640"/>
          </a:xfrm>
          <a:prstGeom prst="rect">
            <a:avLst/>
          </a:prstGeom>
          <a:noFill/>
          <a:ln/>
        </p:spPr>
        <p:txBody>
          <a:bodyPr wrap="square" lIns="0" tIns="0" rIns="0" bIns="0" rtlCol="0" anchor="t"/>
          <a:lstStyle/>
          <a:p>
            <a:pPr algn="l" indent="0" marL="0">
              <a:buNone/>
            </a:pPr>
            <a:r>
              <a:rPr lang="en-US" sz="2600" b="1" dirty="0">
                <a:solidFill>
                  <a:schemeClr val="tx2"/>
                </a:solidFill>
              </a:rPr>
              <a:t>Asking “what if” with a Bayesian network</a:t>
            </a:r>
            <a:endParaRPr lang="en-US" sz="2600" dirty="0"/>
          </a:p>
        </p:txBody>
      </p:sp>
      <p:sp>
        <p:nvSpPr>
          <p:cNvPr id="11" name="formula-card-11"/>
          <p:cNvSpPr/>
          <p:nvPr/>
        </p:nvSpPr>
        <p:spPr>
          <a:xfrm>
            <a:off x="457200" y="1024128"/>
            <a:ext cx="8229600" cy="914400"/>
          </a:xfrm>
          <a:prstGeom prst="roundRect">
            <a:avLst>
              <a:gd name="adj" fmla="val 8000"/>
            </a:avLst>
          </a:prstGeom>
          <a:solidFill>
            <a:schemeClr val="bg2"/>
          </a:solidFill>
          <a:ln>
            <a:noFill/>
          </a:ln>
        </p:spPr>
      </p:sp>
      <p:sp>
        <p:nvSpPr>
          <p:cNvPr id="12" name="formula-12"/>
          <p:cNvSpPr txBox="1"/>
          <p:nvPr/>
        </p:nvSpPr>
        <p:spPr>
          <a:xfrm>
            <a:off x="640080" y="1115568"/>
            <a:ext cx="3931920" cy="292608"/>
          </a:xfrm>
          <a:prstGeom prst="rect">
            <a:avLst/>
          </a:prstGeom>
          <a:noFill/>
          <a:ln/>
        </p:spPr>
        <p:txBody>
          <a:bodyPr wrap="square" lIns="0" tIns="0" rIns="0" bIns="0" rtlCol="0" anchor="t"/>
          <a:lstStyle/>
          <a:p>
            <a:pPr algn="l" indent="0" marL="0">
              <a:buNone/>
            </a:pPr>
            <a:r>
              <a:rPr lang="en-US" sz="1500" b="1" dirty="0">
                <a:solidFill>
                  <a:schemeClr val="accent2"/>
                </a:solidFill>
              </a:rPr>
              <a:t>effect</a:t>
            </a:r>
            <a:r>
              <a:rPr lang="en-US" sz="1500" b="1" dirty="0">
                <a:solidFill>
                  <a:schemeClr val="tx2"/>
                </a:solidFill>
              </a:rPr>
              <a:t>  =  </a:t>
            </a:r>
            <a:r>
              <a:rPr lang="en-US" sz="1500" b="1" dirty="0">
                <a:solidFill>
                  <a:schemeClr val="tx2"/>
                </a:solidFill>
              </a:rPr>
              <a:t>P(Y=1 | do(X=1))</a:t>
            </a:r>
            <a:r>
              <a:rPr lang="en-US" sz="1500" b="1" dirty="0">
                <a:solidFill>
                  <a:schemeClr val="tx2"/>
                </a:solidFill>
              </a:rPr>
              <a:t>  −  </a:t>
            </a:r>
            <a:r>
              <a:rPr lang="en-US" sz="1500" b="1" dirty="0">
                <a:solidFill>
                  <a:schemeClr val="tx2"/>
                </a:solidFill>
              </a:rPr>
              <a:t>P(Y=1 | do(X=0))</a:t>
            </a:r>
          </a:p>
        </p:txBody>
      </p:sp>
      <p:sp>
        <p:nvSpPr>
          <p:cNvPr id="13" name="do-note-13"/>
          <p:cNvSpPr txBox="1"/>
          <p:nvPr/>
        </p:nvSpPr>
        <p:spPr>
          <a:xfrm>
            <a:off x="640080" y="1481328"/>
            <a:ext cx="3749040" cy="384048"/>
          </a:xfrm>
          <a:prstGeom prst="rect">
            <a:avLst/>
          </a:prstGeom>
          <a:noFill/>
          <a:ln/>
        </p:spPr>
        <p:txBody>
          <a:bodyPr wrap="square" lIns="0" tIns="0" rIns="0" bIns="0" rtlCol="0" anchor="t"/>
          <a:lstStyle/>
          <a:p>
            <a:pPr algn="l" indent="0" marL="0">
              <a:buNone/>
            </a:pPr>
            <a:r>
              <a:rPr lang="en-US" sz="1050" dirty="0">
                <a:solidFill>
                  <a:schemeClr val="accent5"/>
                </a:solidFill>
              </a:rPr>
              <a:t>do(X) means we </a:t>
            </a:r>
            <a:r>
              <a:rPr lang="en-US" sz="1050" b="1" dirty="0">
                <a:solidFill>
                  <a:schemeClr val="accent5"/>
                </a:solidFill>
              </a:rPr>
              <a:t>set</a:t>
            </a:r>
            <a:r>
              <a:rPr lang="en-US" sz="1050" dirty="0">
                <a:solidFill>
                  <a:schemeClr val="accent5"/>
                </a:solidFill>
              </a:rPr>
              <a:t> X ourselves and cut the arrows into X. It is not the same as just seeing X.</a:t>
            </a:r>
          </a:p>
        </p:txBody>
      </p:sp>
      <p:sp>
        <p:nvSpPr>
          <p:cNvPr id="14" name="term-14"/>
          <p:cNvSpPr txBox="1"/>
          <p:nvPr/>
        </p:nvSpPr>
        <p:spPr>
          <a:xfrm>
            <a:off x="4709160" y="1133856"/>
            <a:ext cx="3840480" cy="237744"/>
          </a:xfrm>
          <a:prstGeom prst="rect">
            <a:avLst/>
          </a:prstGeom>
          <a:noFill/>
          <a:ln/>
        </p:spPr>
        <p:txBody>
          <a:bodyPr wrap="square" lIns="0" tIns="0" rIns="0" bIns="0" rtlCol="0" anchor="t"/>
          <a:lstStyle/>
          <a:p>
            <a:pPr algn="l" indent="0" marL="0">
              <a:buNone/>
            </a:pPr>
            <a:r>
              <a:rPr lang="en-US" sz="1050" b="1" dirty="0">
                <a:solidFill>
                  <a:schemeClr val="tx2"/>
                </a:solidFill>
              </a:rPr>
              <a:t>P(Y=1 | do(X=1))</a:t>
            </a:r>
            <a:r>
              <a:rPr lang="en-US" sz="1050" dirty="0">
                <a:solidFill>
                  <a:schemeClr val="tx1"/>
                </a:solidFill>
              </a:rPr>
              <a:t>  chance that Y is 1 when we force X to 1</a:t>
            </a:r>
          </a:p>
        </p:txBody>
      </p:sp>
      <p:sp>
        <p:nvSpPr>
          <p:cNvPr id="15" name="term-15"/>
          <p:cNvSpPr txBox="1"/>
          <p:nvPr/>
        </p:nvSpPr>
        <p:spPr>
          <a:xfrm>
            <a:off x="4709160" y="1380744"/>
            <a:ext cx="3840480" cy="237744"/>
          </a:xfrm>
          <a:prstGeom prst="rect">
            <a:avLst/>
          </a:prstGeom>
          <a:noFill/>
          <a:ln/>
        </p:spPr>
        <p:txBody>
          <a:bodyPr wrap="square" lIns="0" tIns="0" rIns="0" bIns="0" rtlCol="0" anchor="t"/>
          <a:lstStyle/>
          <a:p>
            <a:pPr algn="l" indent="0" marL="0">
              <a:buNone/>
            </a:pPr>
            <a:r>
              <a:rPr lang="en-US" sz="1050" b="1" dirty="0">
                <a:solidFill>
                  <a:schemeClr val="tx2"/>
                </a:solidFill>
              </a:rPr>
              <a:t>P(Y=1 | do(X=0))</a:t>
            </a:r>
            <a:r>
              <a:rPr lang="en-US" sz="1050" dirty="0">
                <a:solidFill>
                  <a:schemeClr val="tx1"/>
                </a:solidFill>
              </a:rPr>
              <a:t>  chance that Y is 1 when we force X to 0</a:t>
            </a:r>
          </a:p>
        </p:txBody>
      </p:sp>
      <p:sp>
        <p:nvSpPr>
          <p:cNvPr id="16" name="term-16"/>
          <p:cNvSpPr txBox="1"/>
          <p:nvPr/>
        </p:nvSpPr>
        <p:spPr>
          <a:xfrm>
            <a:off x="4709160" y="1627632"/>
            <a:ext cx="3840480" cy="237744"/>
          </a:xfrm>
          <a:prstGeom prst="rect">
            <a:avLst/>
          </a:prstGeom>
          <a:noFill/>
          <a:ln/>
        </p:spPr>
        <p:txBody>
          <a:bodyPr wrap="square" lIns="0" tIns="0" rIns="0" bIns="0" rtlCol="0" anchor="t"/>
          <a:lstStyle/>
          <a:p>
            <a:pPr algn="l" indent="0" marL="0">
              <a:buNone/>
            </a:pPr>
            <a:r>
              <a:rPr lang="en-US" sz="1050" b="1" dirty="0">
                <a:solidFill>
                  <a:schemeClr val="tx2"/>
                </a:solidFill>
              </a:rPr>
              <a:t>effect</a:t>
            </a:r>
            <a:r>
              <a:rPr lang="en-US" sz="1050" dirty="0">
                <a:solidFill>
                  <a:schemeClr val="tx1"/>
                </a:solidFill>
              </a:rPr>
              <a:t>  the gap: how much X changes Y. 0 means no effect</a:t>
            </a:r>
          </a:p>
        </p:txBody>
      </p:sp>
      <p:sp>
        <p:nvSpPr>
          <p:cNvPr id="17" name="step-17"/>
          <p:cNvSpPr/>
          <p:nvPr/>
        </p:nvSpPr>
        <p:spPr>
          <a:xfrm>
            <a:off x="457200" y="2103120"/>
            <a:ext cx="310896" cy="310896"/>
          </a:xfrm>
          <a:prstGeom prst="ellipse">
            <a:avLst/>
          </a:prstGeom>
          <a:solidFill>
            <a:schemeClr val="accent1"/>
          </a:solidFill>
          <a:ln>
            <a:noFill/>
          </a:ln>
        </p:spPr>
        <p:txBody>
          <a:bodyPr wrap="none" lIns="0" tIns="0" rIns="0" bIns="0" rtlCol="0" anchor="ctr"/>
          <a:lstStyle/>
          <a:p>
            <a:pPr algn="ctr" indent="0" marL="0">
              <a:buNone/>
            </a:pPr>
            <a:r>
              <a:rPr lang="en-US" sz="1200" b="1" dirty="0">
                <a:solidFill>
                  <a:schemeClr val="bg1"/>
                </a:solidFill>
              </a:rPr>
              <a:t>1</a:t>
            </a:r>
          </a:p>
        </p:txBody>
      </p:sp>
      <p:sp>
        <p:nvSpPr>
          <p:cNvPr id="18" name="step-text-18"/>
          <p:cNvSpPr txBox="1"/>
          <p:nvPr/>
        </p:nvSpPr>
        <p:spPr>
          <a:xfrm>
            <a:off x="896112" y="2084832"/>
            <a:ext cx="3429000" cy="640080"/>
          </a:xfrm>
          <a:prstGeom prst="rect">
            <a:avLst/>
          </a:prstGeom>
          <a:noFill/>
          <a:ln/>
        </p:spPr>
        <p:txBody>
          <a:bodyPr wrap="square" lIns="0" tIns="0" rIns="0" bIns="0" rtlCol="0" anchor="t"/>
          <a:lstStyle/>
          <a:p>
            <a:pPr algn="l" indent="0" marL="0">
              <a:buNone/>
            </a:pPr>
            <a:r>
              <a:rPr lang="en-US" sz="1250" b="1" dirty="0">
                <a:solidFill>
                  <a:schemeClr val="tx2"/>
                </a:solidFill>
              </a:rPr>
              <a:t>Simulate data</a:t>
            </a:r>
          </a:p>
          <a:p>
            <a:pPr algn="l" indent="0" marL="0">
              <a:buNone/>
            </a:pPr>
            <a:r>
              <a:rPr lang="en-US" sz="1050" dirty="0">
                <a:solidFill>
                  <a:schemeClr val="accent5"/>
                </a:solidFill>
              </a:rPr>
              <a:t>Corr2Cause has no numbers, so we give a fully known test graph random tables P(node = 1 | parents) and draw 5,000 rows of 0/1.</a:t>
            </a:r>
          </a:p>
        </p:txBody>
      </p:sp>
      <p:sp>
        <p:nvSpPr>
          <p:cNvPr id="19" name="step-19"/>
          <p:cNvSpPr/>
          <p:nvPr/>
        </p:nvSpPr>
        <p:spPr>
          <a:xfrm>
            <a:off x="457200" y="2816352"/>
            <a:ext cx="310896" cy="310896"/>
          </a:xfrm>
          <a:prstGeom prst="ellipse">
            <a:avLst/>
          </a:prstGeom>
          <a:solidFill>
            <a:schemeClr val="accent1"/>
          </a:solidFill>
          <a:ln>
            <a:noFill/>
          </a:ln>
        </p:spPr>
        <p:txBody>
          <a:bodyPr wrap="none" lIns="0" tIns="0" rIns="0" bIns="0" rtlCol="0" anchor="ctr"/>
          <a:lstStyle/>
          <a:p>
            <a:pPr algn="ctr" indent="0" marL="0">
              <a:buNone/>
            </a:pPr>
            <a:r>
              <a:rPr lang="en-US" sz="1200" b="1" dirty="0">
                <a:solidFill>
                  <a:schemeClr val="bg1"/>
                </a:solidFill>
              </a:rPr>
              <a:t>2</a:t>
            </a:r>
          </a:p>
        </p:txBody>
      </p:sp>
      <p:sp>
        <p:nvSpPr>
          <p:cNvPr id="20" name="step-text-20"/>
          <p:cNvSpPr txBox="1"/>
          <p:nvPr/>
        </p:nvSpPr>
        <p:spPr>
          <a:xfrm>
            <a:off x="896112" y="2798064"/>
            <a:ext cx="3429000" cy="640080"/>
          </a:xfrm>
          <a:prstGeom prst="rect">
            <a:avLst/>
          </a:prstGeom>
          <a:noFill/>
          <a:ln/>
        </p:spPr>
        <p:txBody>
          <a:bodyPr wrap="square" lIns="0" tIns="0" rIns="0" bIns="0" rtlCol="0" anchor="t"/>
          <a:lstStyle/>
          <a:p>
            <a:pPr algn="l" indent="0" marL="0">
              <a:buNone/>
            </a:pPr>
            <a:r>
              <a:rPr lang="en-US" sz="1250" b="1" dirty="0">
                <a:solidFill>
                  <a:schemeClr val="tx2"/>
                </a:solidFill>
              </a:rPr>
              <a:t>Fit with pgmpy</a:t>
            </a:r>
          </a:p>
          <a:p>
            <a:pPr algn="l" indent="0" marL="0">
              <a:buNone/>
            </a:pPr>
            <a:r>
              <a:rPr lang="en-US" sz="1050" dirty="0">
                <a:solidFill>
                  <a:schemeClr val="accent5"/>
                </a:solidFill>
              </a:rPr>
              <a:t>pgmpy learns the tables of our predicted DAG, and of the same DAG with every arrow reversed, from the same 5,000 rows.</a:t>
            </a:r>
          </a:p>
        </p:txBody>
      </p:sp>
      <p:sp>
        <p:nvSpPr>
          <p:cNvPr id="21" name="step-21"/>
          <p:cNvSpPr/>
          <p:nvPr/>
        </p:nvSpPr>
        <p:spPr>
          <a:xfrm>
            <a:off x="457200" y="3529584"/>
            <a:ext cx="310896" cy="310896"/>
          </a:xfrm>
          <a:prstGeom prst="ellipse">
            <a:avLst/>
          </a:prstGeom>
          <a:solidFill>
            <a:schemeClr val="accent1"/>
          </a:solidFill>
          <a:ln>
            <a:noFill/>
          </a:ln>
        </p:spPr>
        <p:txBody>
          <a:bodyPr wrap="none" lIns="0" tIns="0" rIns="0" bIns="0" rtlCol="0" anchor="ctr"/>
          <a:lstStyle/>
          <a:p>
            <a:pPr algn="ctr" indent="0" marL="0">
              <a:buNone/>
            </a:pPr>
            <a:r>
              <a:rPr lang="en-US" sz="1200" b="1" dirty="0">
                <a:solidFill>
                  <a:schemeClr val="bg1"/>
                </a:solidFill>
              </a:rPr>
              <a:t>3</a:t>
            </a:r>
          </a:p>
        </p:txBody>
      </p:sp>
      <p:sp>
        <p:nvSpPr>
          <p:cNvPr id="22" name="step-text-22"/>
          <p:cNvSpPr txBox="1"/>
          <p:nvPr/>
        </p:nvSpPr>
        <p:spPr>
          <a:xfrm>
            <a:off x="896112" y="3511296"/>
            <a:ext cx="3429000" cy="640080"/>
          </a:xfrm>
          <a:prstGeom prst="rect">
            <a:avLst/>
          </a:prstGeom>
          <a:noFill/>
          <a:ln/>
        </p:spPr>
        <p:txBody>
          <a:bodyPr wrap="square" lIns="0" tIns="0" rIns="0" bIns="0" rtlCol="0" anchor="t"/>
          <a:lstStyle/>
          <a:p>
            <a:pPr algn="l" indent="0" marL="0">
              <a:buNone/>
            </a:pPr>
            <a:r>
              <a:rPr lang="en-US" sz="1250" b="1" dirty="0">
                <a:solidFill>
                  <a:schemeClr val="tx2"/>
                </a:solidFill>
              </a:rPr>
              <a:t>Intervene and compare</a:t>
            </a:r>
          </a:p>
          <a:p>
            <a:pPr algn="l" indent="0" marL="0">
              <a:buNone/>
            </a:pPr>
            <a:r>
              <a:rPr lang="en-US" sz="1050" dirty="0">
                <a:solidFill>
                  <a:schemeClr val="accent5"/>
                </a:solidFill>
              </a:rPr>
              <a:t>Ask do(X) on Y for every pair of variables and compare each graph's effect with the true effect.</a:t>
            </a:r>
          </a:p>
        </p:txBody>
      </p:sp>
      <p:sp>
        <p:nvSpPr>
          <p:cNvPr id="23" name="chain-title-23"/>
          <p:cNvSpPr txBox="1"/>
          <p:nvPr/>
        </p:nvSpPr>
        <p:spPr>
          <a:xfrm>
            <a:off x="4434840" y="2066544"/>
            <a:ext cx="4251960" cy="237744"/>
          </a:xfrm>
          <a:prstGeom prst="rect">
            <a:avLst/>
          </a:prstGeom>
          <a:noFill/>
          <a:ln/>
        </p:spPr>
        <p:txBody>
          <a:bodyPr wrap="square" lIns="0" tIns="0" rIns="0" bIns="0" rtlCol="0" anchor="t"/>
          <a:lstStyle/>
          <a:p>
            <a:pPr algn="l" indent="0" marL="0">
              <a:buNone/>
            </a:pPr>
            <a:r>
              <a:rPr lang="en-US" sz="1200" b="1" dirty="0">
                <a:solidFill>
                  <a:schemeClr val="tx2"/>
                </a:solidFill>
              </a:rPr>
              <a:t>Why direction matters: true graph A → B → C</a:t>
            </a:r>
          </a:p>
        </p:txBody>
      </p:sp>
      <p:sp>
        <p:nvSpPr>
          <p:cNvPr id="24" name="text-24"/>
          <p:cNvSpPr txBox="1"/>
          <p:nvPr/>
        </p:nvSpPr>
        <p:spPr>
          <a:xfrm>
            <a:off x="7040880" y="2377440"/>
            <a:ext cx="777240" cy="201168"/>
          </a:xfrm>
          <a:prstGeom prst="rect">
            <a:avLst/>
          </a:prstGeom>
          <a:noFill/>
          <a:ln/>
        </p:spPr>
        <p:txBody>
          <a:bodyPr wrap="square" lIns="0" tIns="0" rIns="0" bIns="0" rtlCol="0" anchor="t"/>
          <a:lstStyle/>
          <a:p>
            <a:pPr algn="ctr" indent="0" marL="0">
              <a:buNone/>
            </a:pPr>
            <a:r>
              <a:rPr lang="en-US" sz="950" b="1" dirty="0">
                <a:solidFill>
                  <a:schemeClr val="accent3"/>
                </a:solidFill>
              </a:rPr>
              <a:t>do(A) on C</a:t>
            </a:r>
          </a:p>
        </p:txBody>
      </p:sp>
      <p:sp>
        <p:nvSpPr>
          <p:cNvPr id="25" name="text-25"/>
          <p:cNvSpPr txBox="1"/>
          <p:nvPr/>
        </p:nvSpPr>
        <p:spPr>
          <a:xfrm>
            <a:off x="7863840" y="2377440"/>
            <a:ext cx="777240" cy="201168"/>
          </a:xfrm>
          <a:prstGeom prst="rect">
            <a:avLst/>
          </a:prstGeom>
          <a:noFill/>
          <a:ln/>
        </p:spPr>
        <p:txBody>
          <a:bodyPr wrap="square" lIns="0" tIns="0" rIns="0" bIns="0" rtlCol="0" anchor="t"/>
          <a:lstStyle/>
          <a:p>
            <a:pPr algn="ctr" indent="0" marL="0">
              <a:buNone/>
            </a:pPr>
            <a:r>
              <a:rPr lang="en-US" sz="950" b="1" dirty="0">
                <a:solidFill>
                  <a:schemeClr val="accent3"/>
                </a:solidFill>
              </a:rPr>
              <a:t>do(C) on A</a:t>
            </a:r>
          </a:p>
        </p:txBody>
      </p:sp>
      <p:sp>
        <p:nvSpPr>
          <p:cNvPr id="26" name="row-26"/>
          <p:cNvSpPr/>
          <p:nvPr/>
        </p:nvSpPr>
        <p:spPr>
          <a:xfrm>
            <a:off x="4434840" y="2615184"/>
            <a:ext cx="4251960" cy="347472"/>
          </a:xfrm>
          <a:prstGeom prst="roundRect">
            <a:avLst>
              <a:gd name="adj" fmla="val 12000"/>
            </a:avLst>
          </a:prstGeom>
          <a:solidFill>
            <a:schemeClr val="bg2"/>
          </a:solidFill>
          <a:ln>
            <a:noFill/>
          </a:ln>
        </p:spPr>
      </p:sp>
      <p:sp>
        <p:nvSpPr>
          <p:cNvPr id="27" name="text-27"/>
          <p:cNvSpPr txBox="1"/>
          <p:nvPr/>
        </p:nvSpPr>
        <p:spPr>
          <a:xfrm>
            <a:off x="4544568" y="2651760"/>
            <a:ext cx="1143000" cy="274320"/>
          </a:xfrm>
          <a:prstGeom prst="rect">
            <a:avLst/>
          </a:prstGeom>
          <a:noFill/>
          <a:ln/>
        </p:spPr>
        <p:txBody>
          <a:bodyPr wrap="square" lIns="0" tIns="0" rIns="0" bIns="0" rtlCol="0" anchor="ctr"/>
          <a:lstStyle/>
          <a:p>
            <a:pPr algn="l" indent="0" marL="0">
              <a:buNone/>
            </a:pPr>
            <a:r>
              <a:rPr lang="en-US" sz="1050" b="1" dirty="0">
                <a:solidFill>
                  <a:schemeClr val="tx2"/>
                </a:solidFill>
              </a:rPr>
              <a:t>True graph</a:t>
            </a:r>
          </a:p>
        </p:txBody>
      </p:sp>
      <p:sp>
        <p:nvSpPr>
          <p:cNvPr id="28" name="node-28"/>
          <p:cNvSpPr/>
          <p:nvPr/>
        </p:nvSpPr>
        <p:spPr>
          <a:xfrm>
            <a:off x="5715000" y="2651760"/>
            <a:ext cx="274320" cy="274320"/>
          </a:xfrm>
          <a:prstGeom prst="ellipse">
            <a:avLst/>
          </a:prstGeom>
          <a:solidFill>
            <a:schemeClr val="tx2"/>
          </a:solidFill>
          <a:ln>
            <a:noFill/>
          </a:ln>
        </p:spPr>
        <p:txBody>
          <a:bodyPr wrap="none" lIns="0" tIns="0" rIns="0" bIns="0" rtlCol="0" anchor="ctr"/>
          <a:lstStyle/>
          <a:p>
            <a:pPr algn="ctr" indent="0" marL="0">
              <a:buNone/>
            </a:pPr>
            <a:r>
              <a:rPr lang="en-US" sz="1000" b="1" dirty="0">
                <a:solidFill>
                  <a:schemeClr val="bg1"/>
                </a:solidFill>
              </a:rPr>
              <a:t>A</a:t>
            </a:r>
          </a:p>
        </p:txBody>
      </p:sp>
      <p:sp>
        <p:nvSpPr>
          <p:cNvPr id="29" name="node-29"/>
          <p:cNvSpPr/>
          <p:nvPr/>
        </p:nvSpPr>
        <p:spPr>
          <a:xfrm>
            <a:off x="6217920" y="2651760"/>
            <a:ext cx="274320" cy="274320"/>
          </a:xfrm>
          <a:prstGeom prst="ellipse">
            <a:avLst/>
          </a:prstGeom>
          <a:solidFill>
            <a:schemeClr val="tx2"/>
          </a:solidFill>
          <a:ln>
            <a:noFill/>
          </a:ln>
        </p:spPr>
        <p:txBody>
          <a:bodyPr wrap="none" lIns="0" tIns="0" rIns="0" bIns="0" rtlCol="0" anchor="ctr"/>
          <a:lstStyle/>
          <a:p>
            <a:pPr algn="ctr" indent="0" marL="0">
              <a:buNone/>
            </a:pPr>
            <a:r>
              <a:rPr lang="en-US" sz="1000" b="1" dirty="0">
                <a:solidFill>
                  <a:schemeClr val="bg1"/>
                </a:solidFill>
              </a:rPr>
              <a:t>B</a:t>
            </a:r>
          </a:p>
        </p:txBody>
      </p:sp>
      <p:sp>
        <p:nvSpPr>
          <p:cNvPr id="30" name="node-30"/>
          <p:cNvSpPr/>
          <p:nvPr/>
        </p:nvSpPr>
        <p:spPr>
          <a:xfrm>
            <a:off x="6720840" y="2651760"/>
            <a:ext cx="274320" cy="274320"/>
          </a:xfrm>
          <a:prstGeom prst="ellipse">
            <a:avLst/>
          </a:prstGeom>
          <a:solidFill>
            <a:schemeClr val="tx2"/>
          </a:solidFill>
          <a:ln>
            <a:noFill/>
          </a:ln>
        </p:spPr>
        <p:txBody>
          <a:bodyPr wrap="none" lIns="0" tIns="0" rIns="0" bIns="0" rtlCol="0" anchor="ctr"/>
          <a:lstStyle/>
          <a:p>
            <a:pPr algn="ctr" indent="0" marL="0">
              <a:buNone/>
            </a:pPr>
            <a:r>
              <a:rPr lang="en-US" sz="1000" b="1" dirty="0">
                <a:solidFill>
                  <a:schemeClr val="bg1"/>
                </a:solidFill>
              </a:rPr>
              <a:t>C</a:t>
            </a:r>
          </a:p>
        </p:txBody>
      </p:sp>
      <p:cxnSp>
        <p:nvCxnSpPr>
          <p:cNvPr id="31" name="arrow-31"/>
          <p:cNvCxnSpPr/>
          <p:nvPr/>
        </p:nvCxnSpPr>
        <p:spPr>
          <a:xfrm>
            <a:off x="6007608" y="2788920"/>
            <a:ext cx="192024" cy="0"/>
          </a:xfrm>
          <a:prstGeom prst="straightConnector1">
            <a:avLst/>
          </a:prstGeom>
          <a:ln w="19050">
            <a:solidFill>
              <a:schemeClr val="tx2"/>
            </a:solidFill>
            <a:tailEnd type="triangle" w="med" len="med"/>
          </a:ln>
        </p:spPr>
      </p:cxnSp>
      <p:cxnSp>
        <p:nvCxnSpPr>
          <p:cNvPr id="32" name="arrow-32"/>
          <p:cNvCxnSpPr/>
          <p:nvPr/>
        </p:nvCxnSpPr>
        <p:spPr>
          <a:xfrm>
            <a:off x="6510528" y="2788920"/>
            <a:ext cx="192024" cy="0"/>
          </a:xfrm>
          <a:prstGeom prst="straightConnector1">
            <a:avLst/>
          </a:prstGeom>
          <a:ln w="19050">
            <a:solidFill>
              <a:schemeClr val="tx2"/>
            </a:solidFill>
            <a:tailEnd type="triangle" w="med" len="med"/>
          </a:ln>
        </p:spPr>
      </p:cxnSp>
      <p:sp>
        <p:nvSpPr>
          <p:cNvPr id="33" name="text-33"/>
          <p:cNvSpPr txBox="1"/>
          <p:nvPr/>
        </p:nvSpPr>
        <p:spPr>
          <a:xfrm>
            <a:off x="7040880" y="2651760"/>
            <a:ext cx="777240" cy="274320"/>
          </a:xfrm>
          <a:prstGeom prst="rect">
            <a:avLst/>
          </a:prstGeom>
          <a:noFill/>
          <a:ln/>
        </p:spPr>
        <p:txBody>
          <a:bodyPr wrap="square" lIns="0" tIns="0" rIns="0" bIns="0" rtlCol="0" anchor="ctr"/>
          <a:lstStyle/>
          <a:p>
            <a:pPr algn="ctr" indent="0" marL="0">
              <a:buNone/>
            </a:pPr>
            <a:r>
              <a:rPr lang="en-US" sz="1300" b="1" dirty="0">
                <a:solidFill>
                  <a:schemeClr val="tx2"/>
                </a:solidFill>
              </a:rPr>
              <a:t>0.490</a:t>
            </a:r>
          </a:p>
        </p:txBody>
      </p:sp>
      <p:sp>
        <p:nvSpPr>
          <p:cNvPr id="34" name="text-34"/>
          <p:cNvSpPr txBox="1"/>
          <p:nvPr/>
        </p:nvSpPr>
        <p:spPr>
          <a:xfrm>
            <a:off x="7863840" y="2651760"/>
            <a:ext cx="777240" cy="274320"/>
          </a:xfrm>
          <a:prstGeom prst="rect">
            <a:avLst/>
          </a:prstGeom>
          <a:noFill/>
          <a:ln/>
        </p:spPr>
        <p:txBody>
          <a:bodyPr wrap="square" lIns="0" tIns="0" rIns="0" bIns="0" rtlCol="0" anchor="ctr"/>
          <a:lstStyle/>
          <a:p>
            <a:pPr algn="ctr" indent="0" marL="0">
              <a:buNone/>
            </a:pPr>
            <a:r>
              <a:rPr lang="en-US" sz="1300" b="1" dirty="0">
                <a:solidFill>
                  <a:schemeClr val="tx2"/>
                </a:solidFill>
              </a:rPr>
              <a:t>0.000</a:t>
            </a:r>
          </a:p>
        </p:txBody>
      </p:sp>
      <p:sp>
        <p:nvSpPr>
          <p:cNvPr id="35" name="row-35"/>
          <p:cNvSpPr/>
          <p:nvPr/>
        </p:nvSpPr>
        <p:spPr>
          <a:xfrm>
            <a:off x="4434840" y="2999232"/>
            <a:ext cx="4251960" cy="347472"/>
          </a:xfrm>
          <a:prstGeom prst="roundRect">
            <a:avLst>
              <a:gd name="adj" fmla="val 12000"/>
            </a:avLst>
          </a:prstGeom>
          <a:solidFill>
            <a:schemeClr val="bg2"/>
          </a:solidFill>
          <a:ln>
            <a:noFill/>
          </a:ln>
        </p:spPr>
      </p:sp>
      <p:sp>
        <p:nvSpPr>
          <p:cNvPr id="36" name="text-36"/>
          <p:cNvSpPr txBox="1"/>
          <p:nvPr/>
        </p:nvSpPr>
        <p:spPr>
          <a:xfrm>
            <a:off x="4544568" y="3035808"/>
            <a:ext cx="1143000" cy="274320"/>
          </a:xfrm>
          <a:prstGeom prst="rect">
            <a:avLst/>
          </a:prstGeom>
          <a:noFill/>
          <a:ln/>
        </p:spPr>
        <p:txBody>
          <a:bodyPr wrap="square" lIns="0" tIns="0" rIns="0" bIns="0" rtlCol="0" anchor="ctr"/>
          <a:lstStyle/>
          <a:p>
            <a:pPr algn="l" indent="0" marL="0">
              <a:buNone/>
            </a:pPr>
            <a:r>
              <a:rPr lang="en-US" sz="1050" b="1" dirty="0">
                <a:solidFill>
                  <a:schemeClr val="accent2"/>
                </a:solidFill>
              </a:rPr>
              <a:t>Our DAG (fitted)</a:t>
            </a:r>
          </a:p>
        </p:txBody>
      </p:sp>
      <p:sp>
        <p:nvSpPr>
          <p:cNvPr id="37" name="node-37"/>
          <p:cNvSpPr/>
          <p:nvPr/>
        </p:nvSpPr>
        <p:spPr>
          <a:xfrm>
            <a:off x="5715000" y="3035808"/>
            <a:ext cx="274320" cy="274320"/>
          </a:xfrm>
          <a:prstGeom prst="ellipse">
            <a:avLst/>
          </a:prstGeom>
          <a:solidFill>
            <a:schemeClr val="accent2"/>
          </a:solidFill>
          <a:ln>
            <a:noFill/>
          </a:ln>
        </p:spPr>
        <p:txBody>
          <a:bodyPr wrap="none" lIns="0" tIns="0" rIns="0" bIns="0" rtlCol="0" anchor="ctr"/>
          <a:lstStyle/>
          <a:p>
            <a:pPr algn="ctr" indent="0" marL="0">
              <a:buNone/>
            </a:pPr>
            <a:r>
              <a:rPr lang="en-US" sz="1000" b="1" dirty="0">
                <a:solidFill>
                  <a:schemeClr val="bg1"/>
                </a:solidFill>
              </a:rPr>
              <a:t>A</a:t>
            </a:r>
          </a:p>
        </p:txBody>
      </p:sp>
      <p:sp>
        <p:nvSpPr>
          <p:cNvPr id="38" name="node-38"/>
          <p:cNvSpPr/>
          <p:nvPr/>
        </p:nvSpPr>
        <p:spPr>
          <a:xfrm>
            <a:off x="6217920" y="3035808"/>
            <a:ext cx="274320" cy="274320"/>
          </a:xfrm>
          <a:prstGeom prst="ellipse">
            <a:avLst/>
          </a:prstGeom>
          <a:solidFill>
            <a:schemeClr val="accent2"/>
          </a:solidFill>
          <a:ln>
            <a:noFill/>
          </a:ln>
        </p:spPr>
        <p:txBody>
          <a:bodyPr wrap="none" lIns="0" tIns="0" rIns="0" bIns="0" rtlCol="0" anchor="ctr"/>
          <a:lstStyle/>
          <a:p>
            <a:pPr algn="ctr" indent="0" marL="0">
              <a:buNone/>
            </a:pPr>
            <a:r>
              <a:rPr lang="en-US" sz="1000" b="1" dirty="0">
                <a:solidFill>
                  <a:schemeClr val="bg1"/>
                </a:solidFill>
              </a:rPr>
              <a:t>B</a:t>
            </a:r>
          </a:p>
        </p:txBody>
      </p:sp>
      <p:sp>
        <p:nvSpPr>
          <p:cNvPr id="39" name="node-39"/>
          <p:cNvSpPr/>
          <p:nvPr/>
        </p:nvSpPr>
        <p:spPr>
          <a:xfrm>
            <a:off x="6720840" y="3035808"/>
            <a:ext cx="274320" cy="274320"/>
          </a:xfrm>
          <a:prstGeom prst="ellipse">
            <a:avLst/>
          </a:prstGeom>
          <a:solidFill>
            <a:schemeClr val="accent2"/>
          </a:solidFill>
          <a:ln>
            <a:noFill/>
          </a:ln>
        </p:spPr>
        <p:txBody>
          <a:bodyPr wrap="none" lIns="0" tIns="0" rIns="0" bIns="0" rtlCol="0" anchor="ctr"/>
          <a:lstStyle/>
          <a:p>
            <a:pPr algn="ctr" indent="0" marL="0">
              <a:buNone/>
            </a:pPr>
            <a:r>
              <a:rPr lang="en-US" sz="1000" b="1" dirty="0">
                <a:solidFill>
                  <a:schemeClr val="bg1"/>
                </a:solidFill>
              </a:rPr>
              <a:t>C</a:t>
            </a:r>
          </a:p>
        </p:txBody>
      </p:sp>
      <p:cxnSp>
        <p:nvCxnSpPr>
          <p:cNvPr id="40" name="arrow-40"/>
          <p:cNvCxnSpPr/>
          <p:nvPr/>
        </p:nvCxnSpPr>
        <p:spPr>
          <a:xfrm>
            <a:off x="6007608" y="3172968"/>
            <a:ext cx="192024" cy="0"/>
          </a:xfrm>
          <a:prstGeom prst="straightConnector1">
            <a:avLst/>
          </a:prstGeom>
          <a:ln w="19050">
            <a:solidFill>
              <a:schemeClr val="accent2"/>
            </a:solidFill>
            <a:tailEnd type="triangle" w="med" len="med"/>
          </a:ln>
        </p:spPr>
      </p:cxnSp>
      <p:cxnSp>
        <p:nvCxnSpPr>
          <p:cNvPr id="41" name="arrow-41"/>
          <p:cNvCxnSpPr/>
          <p:nvPr/>
        </p:nvCxnSpPr>
        <p:spPr>
          <a:xfrm>
            <a:off x="6510528" y="3172968"/>
            <a:ext cx="192024" cy="0"/>
          </a:xfrm>
          <a:prstGeom prst="straightConnector1">
            <a:avLst/>
          </a:prstGeom>
          <a:ln w="19050">
            <a:solidFill>
              <a:schemeClr val="accent2"/>
            </a:solidFill>
            <a:tailEnd type="triangle" w="med" len="med"/>
          </a:ln>
        </p:spPr>
      </p:cxnSp>
      <p:sp>
        <p:nvSpPr>
          <p:cNvPr id="42" name="text-42"/>
          <p:cNvSpPr txBox="1"/>
          <p:nvPr/>
        </p:nvSpPr>
        <p:spPr>
          <a:xfrm>
            <a:off x="7040880" y="3035808"/>
            <a:ext cx="777240" cy="274320"/>
          </a:xfrm>
          <a:prstGeom prst="rect">
            <a:avLst/>
          </a:prstGeom>
          <a:noFill/>
          <a:ln/>
        </p:spPr>
        <p:txBody>
          <a:bodyPr wrap="square" lIns="0" tIns="0" rIns="0" bIns="0" rtlCol="0" anchor="ctr"/>
          <a:lstStyle/>
          <a:p>
            <a:pPr algn="ctr" indent="0" marL="0">
              <a:buNone/>
            </a:pPr>
            <a:r>
              <a:rPr lang="en-US" sz="1300" b="1" dirty="0">
                <a:solidFill>
                  <a:schemeClr val="accent2"/>
                </a:solidFill>
              </a:rPr>
              <a:t>0.498</a:t>
            </a:r>
          </a:p>
        </p:txBody>
      </p:sp>
      <p:sp>
        <p:nvSpPr>
          <p:cNvPr id="43" name="text-43"/>
          <p:cNvSpPr txBox="1"/>
          <p:nvPr/>
        </p:nvSpPr>
        <p:spPr>
          <a:xfrm>
            <a:off x="7863840" y="3035808"/>
            <a:ext cx="777240" cy="274320"/>
          </a:xfrm>
          <a:prstGeom prst="rect">
            <a:avLst/>
          </a:prstGeom>
          <a:noFill/>
          <a:ln/>
        </p:spPr>
        <p:txBody>
          <a:bodyPr wrap="square" lIns="0" tIns="0" rIns="0" bIns="0" rtlCol="0" anchor="ctr"/>
          <a:lstStyle/>
          <a:p>
            <a:pPr algn="ctr" indent="0" marL="0">
              <a:buNone/>
            </a:pPr>
            <a:r>
              <a:rPr lang="en-US" sz="1300" b="1" dirty="0">
                <a:solidFill>
                  <a:schemeClr val="accent2"/>
                </a:solidFill>
              </a:rPr>
              <a:t>0.000</a:t>
            </a:r>
          </a:p>
        </p:txBody>
      </p:sp>
      <p:sp>
        <p:nvSpPr>
          <p:cNvPr id="44" name="row-44"/>
          <p:cNvSpPr/>
          <p:nvPr/>
        </p:nvSpPr>
        <p:spPr>
          <a:xfrm>
            <a:off x="4434840" y="3383280"/>
            <a:ext cx="4251960" cy="347472"/>
          </a:xfrm>
          <a:prstGeom prst="roundRect">
            <a:avLst>
              <a:gd name="adj" fmla="val 12000"/>
            </a:avLst>
          </a:prstGeom>
          <a:solidFill>
            <a:schemeClr val="bg2"/>
          </a:solidFill>
          <a:ln>
            <a:noFill/>
          </a:ln>
        </p:spPr>
      </p:sp>
      <p:sp>
        <p:nvSpPr>
          <p:cNvPr id="45" name="text-45"/>
          <p:cNvSpPr txBox="1"/>
          <p:nvPr/>
        </p:nvSpPr>
        <p:spPr>
          <a:xfrm>
            <a:off x="4544568" y="3419856"/>
            <a:ext cx="1143000" cy="274320"/>
          </a:xfrm>
          <a:prstGeom prst="rect">
            <a:avLst/>
          </a:prstGeom>
          <a:noFill/>
          <a:ln/>
        </p:spPr>
        <p:txBody>
          <a:bodyPr wrap="square" lIns="0" tIns="0" rIns="0" bIns="0" rtlCol="0" anchor="ctr"/>
          <a:lstStyle/>
          <a:p>
            <a:pPr algn="l" indent="0" marL="0">
              <a:buNone/>
            </a:pPr>
            <a:r>
              <a:rPr lang="en-US" sz="1050" b="1" dirty="0">
                <a:solidFill>
                  <a:schemeClr val="accent4"/>
                </a:solidFill>
              </a:rPr>
              <a:t>Reversed DAG</a:t>
            </a:r>
          </a:p>
        </p:txBody>
      </p:sp>
      <p:sp>
        <p:nvSpPr>
          <p:cNvPr id="46" name="node-46"/>
          <p:cNvSpPr/>
          <p:nvPr/>
        </p:nvSpPr>
        <p:spPr>
          <a:xfrm>
            <a:off x="5715000" y="3419856"/>
            <a:ext cx="274320" cy="274320"/>
          </a:xfrm>
          <a:prstGeom prst="ellipse">
            <a:avLst/>
          </a:prstGeom>
          <a:solidFill>
            <a:schemeClr val="accent4"/>
          </a:solidFill>
          <a:ln>
            <a:noFill/>
          </a:ln>
        </p:spPr>
        <p:txBody>
          <a:bodyPr wrap="none" lIns="0" tIns="0" rIns="0" bIns="0" rtlCol="0" anchor="ctr"/>
          <a:lstStyle/>
          <a:p>
            <a:pPr algn="ctr" indent="0" marL="0">
              <a:buNone/>
            </a:pPr>
            <a:r>
              <a:rPr lang="en-US" sz="1000" b="1" dirty="0">
                <a:solidFill>
                  <a:schemeClr val="bg1"/>
                </a:solidFill>
              </a:rPr>
              <a:t>A</a:t>
            </a:r>
          </a:p>
        </p:txBody>
      </p:sp>
      <p:sp>
        <p:nvSpPr>
          <p:cNvPr id="47" name="node-47"/>
          <p:cNvSpPr/>
          <p:nvPr/>
        </p:nvSpPr>
        <p:spPr>
          <a:xfrm>
            <a:off x="6217920" y="3419856"/>
            <a:ext cx="274320" cy="274320"/>
          </a:xfrm>
          <a:prstGeom prst="ellipse">
            <a:avLst/>
          </a:prstGeom>
          <a:solidFill>
            <a:schemeClr val="accent4"/>
          </a:solidFill>
          <a:ln>
            <a:noFill/>
          </a:ln>
        </p:spPr>
        <p:txBody>
          <a:bodyPr wrap="none" lIns="0" tIns="0" rIns="0" bIns="0" rtlCol="0" anchor="ctr"/>
          <a:lstStyle/>
          <a:p>
            <a:pPr algn="ctr" indent="0" marL="0">
              <a:buNone/>
            </a:pPr>
            <a:r>
              <a:rPr lang="en-US" sz="1000" b="1" dirty="0">
                <a:solidFill>
                  <a:schemeClr val="bg1"/>
                </a:solidFill>
              </a:rPr>
              <a:t>B</a:t>
            </a:r>
          </a:p>
        </p:txBody>
      </p:sp>
      <p:sp>
        <p:nvSpPr>
          <p:cNvPr id="48" name="node-48"/>
          <p:cNvSpPr/>
          <p:nvPr/>
        </p:nvSpPr>
        <p:spPr>
          <a:xfrm>
            <a:off x="6720840" y="3419856"/>
            <a:ext cx="274320" cy="274320"/>
          </a:xfrm>
          <a:prstGeom prst="ellipse">
            <a:avLst/>
          </a:prstGeom>
          <a:solidFill>
            <a:schemeClr val="accent4"/>
          </a:solidFill>
          <a:ln>
            <a:noFill/>
          </a:ln>
        </p:spPr>
        <p:txBody>
          <a:bodyPr wrap="none" lIns="0" tIns="0" rIns="0" bIns="0" rtlCol="0" anchor="ctr"/>
          <a:lstStyle/>
          <a:p>
            <a:pPr algn="ctr" indent="0" marL="0">
              <a:buNone/>
            </a:pPr>
            <a:r>
              <a:rPr lang="en-US" sz="1000" b="1" dirty="0">
                <a:solidFill>
                  <a:schemeClr val="bg1"/>
                </a:solidFill>
              </a:rPr>
              <a:t>C</a:t>
            </a:r>
          </a:p>
        </p:txBody>
      </p:sp>
      <p:cxnSp>
        <p:nvCxnSpPr>
          <p:cNvPr id="49" name="arrow-49"/>
          <p:cNvCxnSpPr/>
          <p:nvPr/>
        </p:nvCxnSpPr>
        <p:spPr>
          <a:xfrm flipH="1">
            <a:off x="6007608" y="3557016"/>
            <a:ext cx="192024" cy="0"/>
          </a:xfrm>
          <a:prstGeom prst="straightConnector1">
            <a:avLst/>
          </a:prstGeom>
          <a:ln w="19050">
            <a:solidFill>
              <a:schemeClr val="accent4"/>
            </a:solidFill>
            <a:tailEnd type="triangle" w="med" len="med"/>
          </a:ln>
        </p:spPr>
      </p:cxnSp>
      <p:cxnSp>
        <p:nvCxnSpPr>
          <p:cNvPr id="50" name="arrow-50"/>
          <p:cNvCxnSpPr/>
          <p:nvPr/>
        </p:nvCxnSpPr>
        <p:spPr>
          <a:xfrm flipH="1">
            <a:off x="6510528" y="3557016"/>
            <a:ext cx="192024" cy="0"/>
          </a:xfrm>
          <a:prstGeom prst="straightConnector1">
            <a:avLst/>
          </a:prstGeom>
          <a:ln w="19050">
            <a:solidFill>
              <a:schemeClr val="accent4"/>
            </a:solidFill>
            <a:tailEnd type="triangle" w="med" len="med"/>
          </a:ln>
        </p:spPr>
      </p:cxnSp>
      <p:sp>
        <p:nvSpPr>
          <p:cNvPr id="51" name="text-51"/>
          <p:cNvSpPr txBox="1"/>
          <p:nvPr/>
        </p:nvSpPr>
        <p:spPr>
          <a:xfrm>
            <a:off x="7040880" y="3419856"/>
            <a:ext cx="777240" cy="274320"/>
          </a:xfrm>
          <a:prstGeom prst="rect">
            <a:avLst/>
          </a:prstGeom>
          <a:noFill/>
          <a:ln/>
        </p:spPr>
        <p:txBody>
          <a:bodyPr wrap="square" lIns="0" tIns="0" rIns="0" bIns="0" rtlCol="0" anchor="ctr"/>
          <a:lstStyle/>
          <a:p>
            <a:pPr algn="ctr" indent="0" marL="0">
              <a:buNone/>
            </a:pPr>
            <a:r>
              <a:rPr lang="en-US" sz="1300" b="1" dirty="0">
                <a:solidFill>
                  <a:schemeClr val="accent4"/>
                </a:solidFill>
              </a:rPr>
              <a:t>0.000</a:t>
            </a:r>
          </a:p>
        </p:txBody>
      </p:sp>
      <p:sp>
        <p:nvSpPr>
          <p:cNvPr id="52" name="text-52"/>
          <p:cNvSpPr txBox="1"/>
          <p:nvPr/>
        </p:nvSpPr>
        <p:spPr>
          <a:xfrm>
            <a:off x="7863840" y="3419856"/>
            <a:ext cx="777240" cy="274320"/>
          </a:xfrm>
          <a:prstGeom prst="rect">
            <a:avLst/>
          </a:prstGeom>
          <a:noFill/>
          <a:ln/>
        </p:spPr>
        <p:txBody>
          <a:bodyPr wrap="square" lIns="0" tIns="0" rIns="0" bIns="0" rtlCol="0" anchor="ctr"/>
          <a:lstStyle/>
          <a:p>
            <a:pPr algn="ctr" indent="0" marL="0">
              <a:buNone/>
            </a:pPr>
            <a:r>
              <a:rPr lang="en-US" sz="1300" b="1" dirty="0">
                <a:solidFill>
                  <a:schemeClr val="accent4"/>
                </a:solidFill>
              </a:rPr>
              <a:t>0.514</a:t>
            </a:r>
          </a:p>
        </p:txBody>
      </p:sp>
      <p:sp>
        <p:nvSpPr>
          <p:cNvPr id="53" name="chain-note-53"/>
          <p:cNvSpPr txBox="1"/>
          <p:nvPr/>
        </p:nvSpPr>
        <p:spPr>
          <a:xfrm>
            <a:off x="4434840" y="3822192"/>
            <a:ext cx="4251960" cy="365760"/>
          </a:xfrm>
          <a:prstGeom prst="rect">
            <a:avLst/>
          </a:prstGeom>
          <a:noFill/>
          <a:ln/>
        </p:spPr>
        <p:txBody>
          <a:bodyPr wrap="square" lIns="0" tIns="0" rIns="0" bIns="0" rtlCol="0" anchor="t"/>
          <a:lstStyle/>
          <a:p>
            <a:pPr algn="l" indent="0" marL="0">
              <a:buNone/>
            </a:pPr>
            <a:r>
              <a:rPr lang="en-US" sz="950" i="1" dirty="0">
                <a:solidFill>
                  <a:schemeClr val="accent5"/>
                </a:solidFill>
              </a:rPr>
              <a:t>Forcing A changes C, forcing C does not change A. The reversed graph fits the same data but gets both answers wrong.</a:t>
            </a:r>
          </a:p>
        </p:txBody>
      </p:sp>
      <p:sp>
        <p:nvSpPr>
          <p:cNvPr id="54" name="result-54"/>
          <p:cNvSpPr txBox="1"/>
          <p:nvPr/>
        </p:nvSpPr>
        <p:spPr>
          <a:xfrm>
            <a:off x="457200" y="4261104"/>
            <a:ext cx="8229600" cy="365760"/>
          </a:xfrm>
          <a:prstGeom prst="rect">
            <a:avLst/>
          </a:prstGeom>
          <a:noFill/>
          <a:ln/>
        </p:spPr>
        <p:txBody>
          <a:bodyPr wrap="square" lIns="0" tIns="0" rIns="0" bIns="0" rtlCol="0" anchor="t"/>
          <a:lstStyle/>
          <a:p>
            <a:pPr algn="l" indent="0" marL="0">
              <a:buNone/>
            </a:pPr>
            <a:r>
              <a:rPr lang="en-US" sz="1100" dirty="0">
                <a:solidFill>
                  <a:schemeClr val="tx1"/>
                </a:solidFill>
              </a:rPr>
              <a:t>On 5 fully known test graphs (96 queries, 32 with a real effect):  </a:t>
            </a:r>
            <a:r>
              <a:rPr lang="en-US" sz="1100" b="1" dirty="0">
                <a:solidFill>
                  <a:schemeClr val="accent2"/>
                </a:solidFill>
              </a:rPr>
              <a:t>our DAG 28 / 32</a:t>
            </a:r>
            <a:r>
              <a:rPr lang="en-US" sz="1100" dirty="0">
                <a:solidFill>
                  <a:schemeClr val="tx1"/>
                </a:solidFill>
              </a:rPr>
              <a:t>  ·  reversed 0 / 32  ·  empty graph 0 / 32</a:t>
            </a:r>
          </a:p>
          <a:p>
            <a:pPr algn="l" indent="0" marL="0">
              <a:buNone/>
            </a:pPr>
            <a:r>
              <a:rPr lang="en-US" sz="950" dirty="0">
                <a:solidFill>
                  <a:schemeClr val="accent5"/>
                </a:solidFill>
              </a:rPr>
              <a:t>A query counts only if the graph gets “is there an effect?” right and the size within 0.05. All 96 queries: 92 vs 36 vs 64.</a:t>
            </a:r>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65760"/>
            <a:ext cx="8229600" cy="640080"/>
          </a:xfrm>
          <a:prstGeom prst="rect">
            <a:avLst/>
          </a:prstGeom>
          <a:noFill/>
          <a:ln/>
        </p:spPr>
        <p:txBody>
          <a:bodyPr wrap="square" lIns="0" tIns="0" rIns="0" bIns="0" rtlCol="0" anchor="t"/>
          <a:lstStyle/>
          <a:p>
            <a:pPr algn="l" indent="0" marL="0">
              <a:buNone/>
            </a:pPr>
            <a:r>
              <a:rPr lang="en-US" sz="3000" b="1" dirty="0">
                <a:solidFill>
                  <a:schemeClr val="bg1"/>
                </a:solidFill>
              </a:rPr>
              <a:t>What we showed, and what comes next</a:t>
            </a:r>
            <a:endParaRPr lang="en-US" sz="3000" dirty="0"/>
          </a:p>
        </p:txBody>
      </p:sp>
      <p:sp>
        <p:nvSpPr>
          <p:cNvPr id="3" name="node-126"/>
          <p:cNvSpPr txBox="1"/>
          <p:nvPr/>
        </p:nvSpPr>
        <p:spPr>
          <a:xfrm>
            <a:off x="502920" y="123444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4" name="text-127"/>
          <p:cNvSpPr txBox="1"/>
          <p:nvPr/>
        </p:nvSpPr>
        <p:spPr>
          <a:xfrm>
            <a:off x="1143000" y="1120140"/>
            <a:ext cx="3931920" cy="685800"/>
          </a:xfrm>
          <a:prstGeom prst="rect">
            <a:avLst/>
          </a:prstGeom>
          <a:noFill/>
          <a:ln/>
        </p:spPr>
        <p:txBody>
          <a:bodyPr wrap="square" lIns="0" tIns="0" rIns="0" bIns="0" rtlCol="0" anchor="ctr"/>
          <a:lstStyle/>
          <a:p>
            <a:pPr indent="0" marL="0">
              <a:buNone/>
            </a:pPr>
            <a:r>
              <a:rPr lang="en-US" sz="1300" dirty="0">
                <a:solidFill>
                  <a:schemeClr val="bg1"/>
                </a:solidFill>
              </a:rPr>
              <a:t>Text features alone reach only 0.47 F1. Formal causal reasoning cannot be replaced by word counts.</a:t>
            </a:r>
            <a:endParaRPr lang="en-US" sz="1300" dirty="0"/>
          </a:p>
        </p:txBody>
      </p:sp>
      <p:sp>
        <p:nvSpPr>
          <p:cNvPr id="5" name="node-128"/>
          <p:cNvSpPr txBox="1"/>
          <p:nvPr/>
        </p:nvSpPr>
        <p:spPr>
          <a:xfrm>
            <a:off x="502920" y="20116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6" name="text-129"/>
          <p:cNvSpPr txBox="1"/>
          <p:nvPr/>
        </p:nvSpPr>
        <p:spPr>
          <a:xfrm>
            <a:off x="1143000" y="1897380"/>
            <a:ext cx="3931920" cy="685800"/>
          </a:xfrm>
          <a:prstGeom prst="rect">
            <a:avLst/>
          </a:prstGeom>
          <a:noFill/>
          <a:ln/>
        </p:spPr>
        <p:txBody>
          <a:bodyPr wrap="square" lIns="0" tIns="0" rIns="0" bIns="0" rtlCol="0" anchor="ctr"/>
          <a:lstStyle/>
          <a:p>
            <a:pPr indent="0" marL="0">
              <a:buNone/>
            </a:pPr>
            <a:r>
              <a:rPr lang="en-US" sz="1300" dirty="0">
                <a:solidFill>
                  <a:schemeClr val="bg1"/>
                </a:solidFill>
              </a:rPr>
              <a:t>Parser + PC with the generator's definitions explain 98.5% of test labels; the model reaches 0.957 F1.</a:t>
            </a:r>
            <a:endParaRPr lang="en-US" sz="1300" dirty="0"/>
          </a:p>
        </p:txBody>
      </p:sp>
      <p:sp>
        <p:nvSpPr>
          <p:cNvPr id="7" name="node-130"/>
          <p:cNvSpPr txBox="1"/>
          <p:nvPr/>
        </p:nvSpPr>
        <p:spPr>
          <a:xfrm>
            <a:off x="502920" y="278892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8" name="text-131"/>
          <p:cNvSpPr txBox="1"/>
          <p:nvPr/>
        </p:nvSpPr>
        <p:spPr>
          <a:xfrm>
            <a:off x="1143000" y="2674620"/>
            <a:ext cx="3931920" cy="685800"/>
          </a:xfrm>
          <a:prstGeom prst="rect">
            <a:avLst/>
          </a:prstGeom>
          <a:noFill/>
          <a:ln/>
        </p:spPr>
        <p:txBody>
          <a:bodyPr wrap="square" lIns="0" tIns="0" rIns="0" bIns="0" rtlCol="0" anchor="ctr"/>
          <a:lstStyle/>
          <a:p>
            <a:pPr indent="0" marL="0">
              <a:buNone/>
            </a:pPr>
            <a:r>
              <a:rPr lang="en-US" sz="1300" dirty="0">
                <a:solidFill>
                  <a:schemeClr val="bg1"/>
                </a:solidFill>
              </a:rPr>
              <a:t>Correct arrows give correct what-if answers: 28 of 32 real effects, against 0 for the baselines.</a:t>
            </a:r>
            <a:endParaRPr lang="en-US" sz="1300" dirty="0"/>
          </a:p>
        </p:txBody>
      </p:sp>
      <p:sp>
        <p:nvSpPr>
          <p:cNvPr id="9" name="text-132"/>
          <p:cNvSpPr txBox="1"/>
          <p:nvPr/>
        </p:nvSpPr>
        <p:spPr>
          <a:xfrm>
            <a:off x="5486400" y="1234440"/>
            <a:ext cx="3200400" cy="1371600"/>
          </a:xfrm>
          <a:prstGeom prst="rect">
            <a:avLst/>
          </a:prstGeom>
          <a:noFill/>
          <a:ln/>
        </p:spPr>
        <p:txBody>
          <a:bodyPr wrap="square" lIns="0" tIns="0" rIns="0" bIns="0" rtlCol="0" anchor="t"/>
          <a:lstStyle/>
          <a:p>
            <a:pPr indent="0" marL="0">
              <a:buNone/>
            </a:pPr>
            <a:r>
              <a:rPr lang="en-US" sz="1400" b="1" dirty="0">
                <a:solidFill>
                  <a:schemeClr val="accent6"/>
                </a:solidFill>
              </a:rPr>
              <a:t>Limitations</a:t>
            </a:r>
            <a:endParaRPr lang="en-US" sz="1400" dirty="0"/>
          </a:p>
          <a:p>
            <a:pPr indent="0" marL="0">
              <a:buNone/>
            </a:pPr>
            <a:r>
              <a:rPr lang="en-US" sz="1300" dirty="0">
                <a:solidFill>
                  <a:schemeClr val="bg1"/>
                </a:solidFill>
              </a:rPr>
              <a:t>Templated text and letters in causal order; train has only 5–6 variable graphs; Bayesian network data is simulated.</a:t>
            </a:r>
            <a:endParaRPr lang="en-US" sz="1400" dirty="0"/>
          </a:p>
        </p:txBody>
      </p:sp>
      <p:sp>
        <p:nvSpPr>
          <p:cNvPr id="10" name="text-133"/>
          <p:cNvSpPr txBox="1"/>
          <p:nvPr/>
        </p:nvSpPr>
        <p:spPr>
          <a:xfrm>
            <a:off x="5486400" y="2514600"/>
            <a:ext cx="3200400" cy="1371600"/>
          </a:xfrm>
          <a:prstGeom prst="rect">
            <a:avLst/>
          </a:prstGeom>
          <a:noFill/>
          <a:ln/>
        </p:spPr>
        <p:txBody>
          <a:bodyPr wrap="square" lIns="0" tIns="0" rIns="0" bIns="0" rtlCol="0" anchor="t"/>
          <a:lstStyle/>
          <a:p>
            <a:pPr indent="0" marL="0">
              <a:buNone/>
            </a:pPr>
            <a:r>
              <a:rPr lang="en-US" sz="1400" b="1" dirty="0">
                <a:solidFill>
                  <a:schemeClr val="accent6"/>
                </a:solidFill>
              </a:rPr>
              <a:t>Phase 2</a:t>
            </a:r>
            <a:endParaRPr lang="en-US" sz="1400" dirty="0"/>
          </a:p>
          <a:p>
            <a:pPr indent="0" marL="0">
              <a:buNone/>
            </a:pPr>
            <a:r>
              <a:rPr lang="en-US" sz="1300" dirty="0">
                <a:solidFill>
                  <a:schemeClr val="bg1"/>
                </a:solidFill>
              </a:rPr>
              <a:t>A fine-tuned transformer reads paraphrased text, PC keeps the reasoning, tested on reworded and renamed-variable data.</a:t>
            </a:r>
            <a:endParaRPr lang="en-US" sz="1400" dirty="0"/>
          </a:p>
        </p:txBody>
      </p:sp>
      <p:sp>
        <p:nvSpPr>
          <p:cNvPr id="11" name="text-134"/>
          <p:cNvSpPr txBox="1"/>
          <p:nvPr/>
        </p:nvSpPr>
        <p:spPr>
          <a:xfrm>
            <a:off x="457200" y="4617720"/>
            <a:ext cx="8229600" cy="274320"/>
          </a:xfrm>
          <a:prstGeom prst="rect">
            <a:avLst/>
          </a:prstGeom>
          <a:noFill/>
          <a:ln/>
        </p:spPr>
        <p:txBody>
          <a:bodyPr wrap="square" lIns="0" tIns="0" rIns="0" bIns="0" rtlCol="0" anchor="t"/>
          <a:lstStyle/>
          <a:p>
            <a:pPr indent="0" marL="0">
              <a:buNone/>
            </a:pPr>
            <a:r>
              <a:rPr lang="en-US" sz="1100" dirty="0">
                <a:solidFill>
                  <a:schemeClr val="accent3"/>
                </a:solidFill>
              </a:rPr>
              <a:t>Code, notebooks, tests and report: github.com/Jag2007/AI_ML_Project</a:t>
            </a:r>
            <a:endParaRPr lang="en-US" sz="1100" dirty="0"/>
          </a:p>
        </p:txBody>
      </p:sp>
    </p:spTree>
  </p:cSld>
  <p:clrMapOvr>
    <a:masterClrMapping/>
  </p:clrMapOvr>
</p:sld>
</file>

<file path=ppt/theme/theme1.xml><?xml version="1.0" encoding="utf-8"?>
<a:theme xmlns:a="http://schemas.openxmlformats.org/drawingml/2006/main" name="Corr2Cause Phase 1">
  <a:themeElements>
    <a:clrScheme name="Corr2Cause Phase 1">
      <a:dk1>
        <a:srgbClr val="1A1F2B"/>
      </a:dk1>
      <a:lt1>
        <a:srgbClr val="FFFFFF"/>
      </a:lt1>
      <a:dk2>
        <a:srgbClr val="14213D"/>
      </a:dk2>
      <a:lt2>
        <a:srgbClr val="EEF1F5"/>
      </a:lt2>
      <a:accent1>
        <a:srgbClr val="E07A1F"/>
      </a:accent1>
      <a:accent2>
        <a:srgbClr val="2A9D8F"/>
      </a:accent2>
      <a:accent3>
        <a:srgbClr val="8D99AE"/>
      </a:accent3>
      <a:accent4>
        <a:srgbClr val="C1440E"/>
      </a:accent4>
      <a:accent5>
        <a:srgbClr val="5C6B8A"/>
      </a:accent5>
      <a:accent6>
        <a:srgbClr val="F2C14E"/>
      </a:accent6>
      <a:hlink>
        <a:srgbClr val="2A9D8F"/>
      </a:hlink>
      <a:folHlink>
        <a:srgbClr val="5C6B8A"/>
      </a:folHlink>
    </a:clrScheme>
    <a:fontScheme name="Corr2Cause Phase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 Model Tell Cause from Correlation? Phase 1</dc:title>
  <dc:subject>PptxGenJS Presentation</dc:subject>
  <dc:creator>Chaitanya Sai Meka, Rakshita, Dhanvin Vadlamudi, Kasula Lalithendra, Jagruthi Pulumati</dc:creator>
  <cp:lastModifiedBy>Chaitanya Sai Meka, Rakshita, Dhanvin Vadlamudi, Kasula Lalithendra, Jagruthi Pulumati</cp:lastModifiedBy>
  <cp:revision>1</cp:revision>
  <dcterms:created xsi:type="dcterms:W3CDTF">2026-10-24T07:38:34Z</dcterms:created>
  <dcterms:modified xsi:type="dcterms:W3CDTF">2026-10-24T07:38:34Z</dcterms:modified>
</cp:coreProperties>
</file>